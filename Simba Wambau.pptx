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60730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9710106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37373817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5987081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01873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09492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695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9484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Bom dia / Boa tarde. Somos o grupo Frota Simba Wambau da turma EINF4_T3. Vamos apresentar o nosso projecto de Programação II — um sistema de gestão de frotas de aluguer desenvolvido em Java.</a:t>
            </a:r>
            <a:endParaRPr lang="en-US"/>
          </a:p>
        </p:txBody>
      </p:sp>
      <p:sp>
        <p:nvSpPr>
          <p:cNvPr id="973096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716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958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Vamos percorrer estes 7 tópicos ao longo da apresentação.</a:t>
            </a:r>
            <a:endParaRPr lang="en-US"/>
          </a:p>
        </p:txBody>
      </p:sp>
      <p:sp>
        <p:nvSpPr>
          <p:cNvPr id="434558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408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3306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 projecto é um sistema de gestão de frotas em Java executado em terminal. Tem 7 classes, 4 ficheiros de persistência, e foram corrigidos 7 bugs durante a revisão.</a:t>
            </a:r>
            <a:endParaRPr lang="en-US"/>
          </a:p>
        </p:txBody>
      </p:sp>
      <p:sp>
        <p:nvSpPr>
          <p:cNvPr id="1318079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54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116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 sistema está dividido em 7 classes. Main gere os menus e FrotaService tem toda a lógica. As classes Carro, Cliente, Aluguer e Manutencao são os modelos de dados. Validar centraliza toda a validação de entradas.</a:t>
            </a:r>
            <a:endParaRPr lang="en-US"/>
          </a:p>
        </p:txBody>
      </p:sp>
      <p:sp>
        <p:nvSpPr>
          <p:cNvPr id="10320924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7370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1410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 sistema tem dois perfis. O Gestor tem controlo total incluindo manutenção e relatórios. O Operário faz o atendimento ao cliente: aluguer, devolução e consultas.</a:t>
            </a:r>
            <a:endParaRPr lang="en-US"/>
          </a:p>
        </p:txBody>
      </p:sp>
      <p:sp>
        <p:nvSpPr>
          <p:cNvPr id="1777419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749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28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 aluguer tem 5 validações antes de ser confirmado. A fila de manutenção usa Queue com LinkedList — garante ordem FIFO: o primeiro a entrar é o primeiro a sair. poll() remove e devolve o primeiro elemento.</a:t>
            </a:r>
            <a:endParaRPr lang="en-US"/>
          </a:p>
        </p:txBody>
      </p:sp>
      <p:sp>
        <p:nvSpPr>
          <p:cNvPr id="202383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929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8918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Temos 4 ficheiros .txt. São carregados quando o programa arranca com BufferedReader. São guardados automaticamente após cada operação com PrintWriter. Cada linha representa um objecto com campos separados por ponto e vírgula.</a:t>
            </a:r>
            <a:endParaRPr lang="en-US"/>
          </a:p>
        </p:txBody>
      </p:sp>
      <p:sp>
        <p:nvSpPr>
          <p:cNvPr id="1664480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875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1486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Aplicámos os 7 conceitos obrigatórios do enunciado. Para além destes, usámos Queue para a fila de manutenção e Iterator para remoção segura de listas.</a:t>
            </a:r>
            <a:endParaRPr lang="en-US"/>
          </a:p>
        </p:txBody>
      </p:sp>
      <p:sp>
        <p:nvSpPr>
          <p:cNvPr id="690146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957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955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Encontrámos e corrigimos 7 bugs. Os mais importantes: emManutencao não era gravado no ficheiro (perdíamos estado ao reiniciar), remoção de listas durante iteração causava ConcurrentModificationException, e a recursão em concluirManutencao podia causar StackOverflow.</a:t>
            </a:r>
            <a:endParaRPr lang="en-US"/>
          </a:p>
        </p:txBody>
      </p:sp>
      <p:sp>
        <p:nvSpPr>
          <p:cNvPr id="512510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648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7481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Para concluir: o sistema está funcional, aplica todos os conceitos obrigatórios, os 7 bugs foram corrigidos e os dados persistem correctamente. Estamos prontos para responder a perguntas.</a:t>
            </a:r>
            <a:endParaRPr lang="en-US"/>
          </a:p>
        </p:txBody>
      </p:sp>
      <p:sp>
        <p:nvSpPr>
          <p:cNvPr id="57204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68481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6181267" name="Shape 1"/>
          <p:cNvSpPr/>
          <p:nvPr/>
        </p:nvSpPr>
        <p:spPr bwMode="auto">
          <a:xfrm>
            <a:off x="6217920" y="-731520"/>
            <a:ext cx="4114800" cy="4114800"/>
          </a:xfrm>
          <a:prstGeom prst="ellipse">
            <a:avLst/>
          </a:prstGeom>
          <a:solidFill>
            <a:srgbClr val="00A8CC">
              <a:alpha val="12000"/>
            </a:srgbClr>
          </a:solidFill>
          <a:ln w="12700">
            <a:solidFill>
              <a:srgbClr val="00A8CC">
                <a:alpha val="20000"/>
              </a:srgbClr>
            </a:solidFill>
            <a:prstDash val="solid"/>
          </a:ln>
        </p:spPr>
      </p:sp>
      <p:sp>
        <p:nvSpPr>
          <p:cNvPr id="1501290025" name="Shape 2"/>
          <p:cNvSpPr/>
          <p:nvPr/>
        </p:nvSpPr>
        <p:spPr bwMode="auto">
          <a:xfrm>
            <a:off x="6858000" y="-182880"/>
            <a:ext cx="2743200" cy="2743200"/>
          </a:xfrm>
          <a:prstGeom prst="ellipse">
            <a:avLst/>
          </a:prstGeom>
          <a:solidFill>
            <a:srgbClr val="00A8CC">
              <a:alpha val="24000"/>
            </a:srgbClr>
          </a:solidFill>
          <a:ln w="12700">
            <a:solidFill>
              <a:srgbClr val="00A8CC">
                <a:alpha val="30000"/>
              </a:srgbClr>
            </a:solidFill>
            <a:prstDash val="solid"/>
          </a:ln>
        </p:spPr>
      </p:sp>
      <p:pic>
        <p:nvPicPr>
          <p:cNvPr id="17168574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005840"/>
            <a:ext cx="640080" cy="640080"/>
          </a:xfrm>
          <a:prstGeom prst="rect">
            <a:avLst/>
          </a:prstGeom>
        </p:spPr>
      </p:pic>
      <p:sp>
        <p:nvSpPr>
          <p:cNvPr id="864891273" name="Text 3"/>
          <p:cNvSpPr/>
          <p:nvPr/>
        </p:nvSpPr>
        <p:spPr bwMode="auto">
          <a:xfrm>
            <a:off x="36576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DE GESTÃO DE FROTAS</a:t>
            </a:r>
            <a:endParaRPr lang="en-US" sz="3200"/>
          </a:p>
        </p:txBody>
      </p:sp>
      <p:sp>
        <p:nvSpPr>
          <p:cNvPr id="1127648816" name="Text 4"/>
          <p:cNvSpPr/>
          <p:nvPr/>
        </p:nvSpPr>
        <p:spPr bwMode="auto">
          <a:xfrm>
            <a:off x="36576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i="1">
                <a:solidFill>
                  <a:srgbClr val="00A8CC"/>
                </a:solidFill>
                <a:latin typeface="Arial"/>
                <a:ea typeface="Arial"/>
                <a:cs typeface="Arial"/>
              </a:rPr>
              <a:t>Frota Simba Wambau</a:t>
            </a:r>
            <a:endParaRPr lang="en-US" sz="2000"/>
          </a:p>
        </p:txBody>
      </p:sp>
      <p:sp>
        <p:nvSpPr>
          <p:cNvPr id="1910250177" name="Shape 5"/>
          <p:cNvSpPr/>
          <p:nvPr/>
        </p:nvSpPr>
        <p:spPr bwMode="auto">
          <a:xfrm>
            <a:off x="365760" y="2240280"/>
            <a:ext cx="109728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08860282" name="Text 6"/>
          <p:cNvSpPr/>
          <p:nvPr/>
        </p:nvSpPr>
        <p:spPr bwMode="auto">
          <a:xfrm>
            <a:off x="36576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94A3B8"/>
                </a:solidFill>
                <a:latin typeface="Arial"/>
                <a:ea typeface="Arial"/>
                <a:cs typeface="Arial"/>
              </a:rPr>
              <a:t>Defesa de Projecto  ·  Programação II  ·  2025/2026</a:t>
            </a:r>
            <a:endParaRPr lang="en-US" sz="1300"/>
          </a:p>
        </p:txBody>
      </p:sp>
      <p:sp>
        <p:nvSpPr>
          <p:cNvPr id="885124549" name="Text 7"/>
          <p:cNvSpPr/>
          <p:nvPr/>
        </p:nvSpPr>
        <p:spPr bwMode="auto">
          <a:xfrm>
            <a:off x="365760" y="272491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Docente: Sílvia António  ·  Curso: Engenharia Informática — EINF</a:t>
            </a: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_T3</a:t>
            </a:r>
            <a:endParaRPr lang="en-US" sz="1200"/>
          </a:p>
        </p:txBody>
      </p:sp>
      <p:sp>
        <p:nvSpPr>
          <p:cNvPr id="660006284" name="Text 8"/>
          <p:cNvSpPr/>
          <p:nvPr/>
        </p:nvSpPr>
        <p:spPr bwMode="auto">
          <a:xfrm>
            <a:off x="3657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A8CC"/>
                </a:solidFill>
                <a:latin typeface="Arial"/>
                <a:ea typeface="Arial"/>
                <a:cs typeface="Arial"/>
              </a:rPr>
              <a:t>Grupo:</a:t>
            </a:r>
            <a:endParaRPr lang="en-US" sz="1200"/>
          </a:p>
        </p:txBody>
      </p:sp>
      <p:sp>
        <p:nvSpPr>
          <p:cNvPr id="424809781" name="Text 9"/>
          <p:cNvSpPr/>
          <p:nvPr/>
        </p:nvSpPr>
        <p:spPr bwMode="auto">
          <a:xfrm>
            <a:off x="365760" y="3611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Estefani Famorosa — Nº 20240217</a:t>
            </a:r>
            <a:endParaRPr lang="en-US" sz="1200"/>
          </a:p>
        </p:txBody>
      </p:sp>
      <p:sp>
        <p:nvSpPr>
          <p:cNvPr id="1308451039" name="Text 10"/>
          <p:cNvSpPr/>
          <p:nvPr/>
        </p:nvSpPr>
        <p:spPr bwMode="auto">
          <a:xfrm>
            <a:off x="365760" y="3931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Jorje Veloso — Nº 20241500</a:t>
            </a:r>
            <a:endParaRPr lang="en-US" sz="1200"/>
          </a:p>
        </p:txBody>
      </p:sp>
      <p:sp>
        <p:nvSpPr>
          <p:cNvPr id="689471597" name="Text 11"/>
          <p:cNvSpPr/>
          <p:nvPr/>
        </p:nvSpPr>
        <p:spPr bwMode="auto">
          <a:xfrm>
            <a:off x="365760" y="4251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Josemar Chipandeca — Nº 20242447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169666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29744189" name="Text 1"/>
          <p:cNvSpPr/>
          <p:nvPr/>
        </p:nvSpPr>
        <p:spPr bwMode="auto"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Índice da Apresentação</a:t>
            </a:r>
            <a:endParaRPr lang="en-US" sz="2400"/>
          </a:p>
        </p:txBody>
      </p:sp>
      <p:sp>
        <p:nvSpPr>
          <p:cNvPr id="1983611838" name="Text 2"/>
          <p:cNvSpPr/>
          <p:nvPr/>
        </p:nvSpPr>
        <p:spPr bwMode="auto"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O que vamos apresentar</a:t>
            </a:r>
            <a:endParaRPr lang="en-US" sz="1100"/>
          </a:p>
        </p:txBody>
      </p:sp>
      <p:sp>
        <p:nvSpPr>
          <p:cNvPr id="1423683569" name="Shape 3"/>
          <p:cNvSpPr/>
          <p:nvPr/>
        </p:nvSpPr>
        <p:spPr bwMode="auto">
          <a:xfrm>
            <a:off x="274320" y="105156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719149951" name="Shape 4"/>
          <p:cNvSpPr/>
          <p:nvPr/>
        </p:nvSpPr>
        <p:spPr bwMode="auto">
          <a:xfrm>
            <a:off x="384048" y="1188720"/>
            <a:ext cx="502920" cy="5029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63527715" name="Text 5"/>
          <p:cNvSpPr/>
          <p:nvPr/>
        </p:nvSpPr>
        <p:spPr bwMode="auto">
          <a:xfrm>
            <a:off x="38404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lang="en-US" sz="1100"/>
          </a:p>
        </p:txBody>
      </p:sp>
      <p:pic>
        <p:nvPicPr>
          <p:cNvPr id="504600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7552" y="1225296"/>
            <a:ext cx="411480" cy="411480"/>
          </a:xfrm>
          <a:prstGeom prst="rect">
            <a:avLst/>
          </a:prstGeom>
        </p:spPr>
      </p:pic>
      <p:sp>
        <p:nvSpPr>
          <p:cNvPr id="177292195" name="Shape 6"/>
          <p:cNvSpPr/>
          <p:nvPr/>
        </p:nvSpPr>
        <p:spPr bwMode="auto">
          <a:xfrm>
            <a:off x="960120" y="1188720"/>
            <a:ext cx="484632" cy="4846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68174921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87552" y="1225296"/>
            <a:ext cx="411480" cy="411480"/>
          </a:xfrm>
          <a:prstGeom prst="rect">
            <a:avLst/>
          </a:prstGeom>
        </p:spPr>
      </p:pic>
      <p:sp>
        <p:nvSpPr>
          <p:cNvPr id="1496067614" name="Text 7"/>
          <p:cNvSpPr/>
          <p:nvPr/>
        </p:nvSpPr>
        <p:spPr bwMode="auto">
          <a:xfrm>
            <a:off x="1536192" y="1216151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Objectivo do Projecto</a:t>
            </a:r>
            <a:endParaRPr lang="en-US" sz="1300"/>
          </a:p>
        </p:txBody>
      </p:sp>
      <p:sp>
        <p:nvSpPr>
          <p:cNvPr id="422311635" name="Shape 8"/>
          <p:cNvSpPr/>
          <p:nvPr/>
        </p:nvSpPr>
        <p:spPr bwMode="auto">
          <a:xfrm>
            <a:off x="274320" y="20116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048489505" name="Shape 9"/>
          <p:cNvSpPr/>
          <p:nvPr/>
        </p:nvSpPr>
        <p:spPr bwMode="auto">
          <a:xfrm>
            <a:off x="384048" y="2148840"/>
            <a:ext cx="502920" cy="5029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618476918" name="Text 10"/>
          <p:cNvSpPr/>
          <p:nvPr/>
        </p:nvSpPr>
        <p:spPr bwMode="auto">
          <a:xfrm>
            <a:off x="38404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lang="en-US" sz="1100"/>
          </a:p>
        </p:txBody>
      </p:sp>
      <p:pic>
        <p:nvPicPr>
          <p:cNvPr id="60452739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87552" y="2185416"/>
            <a:ext cx="411480" cy="411480"/>
          </a:xfrm>
          <a:prstGeom prst="rect">
            <a:avLst/>
          </a:prstGeom>
        </p:spPr>
      </p:pic>
      <p:sp>
        <p:nvSpPr>
          <p:cNvPr id="1206423776" name="Shape 11"/>
          <p:cNvSpPr/>
          <p:nvPr/>
        </p:nvSpPr>
        <p:spPr bwMode="auto">
          <a:xfrm>
            <a:off x="960120" y="2148840"/>
            <a:ext cx="484632" cy="4846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3538323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87552" y="2185416"/>
            <a:ext cx="411480" cy="411480"/>
          </a:xfrm>
          <a:prstGeom prst="rect">
            <a:avLst/>
          </a:prstGeom>
        </p:spPr>
      </p:pic>
      <p:sp>
        <p:nvSpPr>
          <p:cNvPr id="316663194" name="Text 12"/>
          <p:cNvSpPr/>
          <p:nvPr/>
        </p:nvSpPr>
        <p:spPr bwMode="auto">
          <a:xfrm>
            <a:off x="1536192" y="21762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Arquitectura e Classes</a:t>
            </a:r>
            <a:endParaRPr lang="en-US" sz="1300"/>
          </a:p>
        </p:txBody>
      </p:sp>
      <p:sp>
        <p:nvSpPr>
          <p:cNvPr id="169529151" name="Shape 13"/>
          <p:cNvSpPr/>
          <p:nvPr/>
        </p:nvSpPr>
        <p:spPr bwMode="auto">
          <a:xfrm>
            <a:off x="274320" y="29718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853190362" name="Shape 14"/>
          <p:cNvSpPr/>
          <p:nvPr/>
        </p:nvSpPr>
        <p:spPr bwMode="auto">
          <a:xfrm>
            <a:off x="384048" y="3108960"/>
            <a:ext cx="502920" cy="5029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37187565" name="Text 15"/>
          <p:cNvSpPr/>
          <p:nvPr/>
        </p:nvSpPr>
        <p:spPr bwMode="auto">
          <a:xfrm>
            <a:off x="38404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lang="en-US" sz="1100"/>
          </a:p>
        </p:txBody>
      </p:sp>
      <p:pic>
        <p:nvPicPr>
          <p:cNvPr id="1449687202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87552" y="3145536"/>
            <a:ext cx="411480" cy="411480"/>
          </a:xfrm>
          <a:prstGeom prst="rect">
            <a:avLst/>
          </a:prstGeom>
        </p:spPr>
      </p:pic>
      <p:sp>
        <p:nvSpPr>
          <p:cNvPr id="1683339027" name="Shape 16"/>
          <p:cNvSpPr/>
          <p:nvPr/>
        </p:nvSpPr>
        <p:spPr bwMode="auto">
          <a:xfrm>
            <a:off x="960120" y="3108960"/>
            <a:ext cx="484632" cy="4846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620469647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87552" y="3145536"/>
            <a:ext cx="411480" cy="411480"/>
          </a:xfrm>
          <a:prstGeom prst="rect">
            <a:avLst/>
          </a:prstGeom>
        </p:spPr>
      </p:pic>
      <p:sp>
        <p:nvSpPr>
          <p:cNvPr id="1702651813" name="Text 17"/>
          <p:cNvSpPr/>
          <p:nvPr/>
        </p:nvSpPr>
        <p:spPr bwMode="auto">
          <a:xfrm>
            <a:off x="1536192" y="3136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Funcionalidades</a:t>
            </a:r>
            <a:endParaRPr lang="en-US" sz="1300"/>
          </a:p>
        </p:txBody>
      </p:sp>
      <p:sp>
        <p:nvSpPr>
          <p:cNvPr id="431627689" name="Shape 18"/>
          <p:cNvSpPr/>
          <p:nvPr/>
        </p:nvSpPr>
        <p:spPr bwMode="auto">
          <a:xfrm>
            <a:off x="274320" y="39319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971906430" name="Shape 19"/>
          <p:cNvSpPr/>
          <p:nvPr/>
        </p:nvSpPr>
        <p:spPr bwMode="auto">
          <a:xfrm>
            <a:off x="384048" y="4069080"/>
            <a:ext cx="502920" cy="5029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461478579" name="Text 20"/>
          <p:cNvSpPr/>
          <p:nvPr/>
        </p:nvSpPr>
        <p:spPr bwMode="auto">
          <a:xfrm>
            <a:off x="38404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lang="en-US" sz="1100"/>
          </a:p>
        </p:txBody>
      </p:sp>
      <p:pic>
        <p:nvPicPr>
          <p:cNvPr id="784981997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87552" y="4105656"/>
            <a:ext cx="411480" cy="411480"/>
          </a:xfrm>
          <a:prstGeom prst="rect">
            <a:avLst/>
          </a:prstGeom>
        </p:spPr>
      </p:pic>
      <p:sp>
        <p:nvSpPr>
          <p:cNvPr id="732426938" name="Shape 21"/>
          <p:cNvSpPr/>
          <p:nvPr/>
        </p:nvSpPr>
        <p:spPr bwMode="auto">
          <a:xfrm>
            <a:off x="960120" y="4069080"/>
            <a:ext cx="484632" cy="4846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201379989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987552" y="4105656"/>
            <a:ext cx="411480" cy="411480"/>
          </a:xfrm>
          <a:prstGeom prst="rect">
            <a:avLst/>
          </a:prstGeom>
        </p:spPr>
      </p:pic>
      <p:sp>
        <p:nvSpPr>
          <p:cNvPr id="1283363735" name="Text 22"/>
          <p:cNvSpPr/>
          <p:nvPr/>
        </p:nvSpPr>
        <p:spPr bwMode="auto">
          <a:xfrm>
            <a:off x="1536192" y="40965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Persistência de Dados</a:t>
            </a:r>
            <a:endParaRPr lang="en-US" sz="1300"/>
          </a:p>
        </p:txBody>
      </p:sp>
      <p:sp>
        <p:nvSpPr>
          <p:cNvPr id="2049225728" name="Shape 23"/>
          <p:cNvSpPr/>
          <p:nvPr/>
        </p:nvSpPr>
        <p:spPr bwMode="auto">
          <a:xfrm>
            <a:off x="4754880" y="105156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436904427" name="Shape 24"/>
          <p:cNvSpPr/>
          <p:nvPr/>
        </p:nvSpPr>
        <p:spPr bwMode="auto">
          <a:xfrm>
            <a:off x="4864607" y="1188720"/>
            <a:ext cx="502920" cy="5029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98550329" name="Text 25"/>
          <p:cNvSpPr/>
          <p:nvPr/>
        </p:nvSpPr>
        <p:spPr bwMode="auto">
          <a:xfrm>
            <a:off x="4864607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lang="en-US" sz="1100"/>
          </a:p>
        </p:txBody>
      </p:sp>
      <p:pic>
        <p:nvPicPr>
          <p:cNvPr id="1904361049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5468112" y="1225296"/>
            <a:ext cx="411480" cy="411480"/>
          </a:xfrm>
          <a:prstGeom prst="rect">
            <a:avLst/>
          </a:prstGeom>
        </p:spPr>
      </p:pic>
      <p:sp>
        <p:nvSpPr>
          <p:cNvPr id="2118160756" name="Shape 26"/>
          <p:cNvSpPr/>
          <p:nvPr/>
        </p:nvSpPr>
        <p:spPr bwMode="auto">
          <a:xfrm>
            <a:off x="5440680" y="1188720"/>
            <a:ext cx="484632" cy="4846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676378204" name="Image 9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5468112" y="1225296"/>
            <a:ext cx="411480" cy="411480"/>
          </a:xfrm>
          <a:prstGeom prst="rect">
            <a:avLst/>
          </a:prstGeom>
        </p:spPr>
      </p:pic>
      <p:sp>
        <p:nvSpPr>
          <p:cNvPr id="1792347450" name="Text 27"/>
          <p:cNvSpPr/>
          <p:nvPr/>
        </p:nvSpPr>
        <p:spPr bwMode="auto">
          <a:xfrm>
            <a:off x="6016752" y="1216151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Conceitos POO</a:t>
            </a:r>
            <a:endParaRPr lang="en-US" sz="1300"/>
          </a:p>
        </p:txBody>
      </p:sp>
      <p:sp>
        <p:nvSpPr>
          <p:cNvPr id="1043388225" name="Shape 28"/>
          <p:cNvSpPr/>
          <p:nvPr/>
        </p:nvSpPr>
        <p:spPr bwMode="auto">
          <a:xfrm>
            <a:off x="4754880" y="20116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832160413" name="Shape 29"/>
          <p:cNvSpPr/>
          <p:nvPr/>
        </p:nvSpPr>
        <p:spPr bwMode="auto">
          <a:xfrm>
            <a:off x="4864607" y="2148840"/>
            <a:ext cx="502920" cy="5029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51959962" name="Text 30"/>
          <p:cNvSpPr/>
          <p:nvPr/>
        </p:nvSpPr>
        <p:spPr bwMode="auto">
          <a:xfrm>
            <a:off x="4864607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  <a:endParaRPr lang="en-US" sz="1100"/>
          </a:p>
        </p:txBody>
      </p:sp>
      <p:pic>
        <p:nvPicPr>
          <p:cNvPr id="1782874505" name="Image 10" descr="preencoded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5468112" y="2185416"/>
            <a:ext cx="411480" cy="411480"/>
          </a:xfrm>
          <a:prstGeom prst="rect">
            <a:avLst/>
          </a:prstGeom>
        </p:spPr>
      </p:pic>
      <p:sp>
        <p:nvSpPr>
          <p:cNvPr id="1344379203" name="Shape 31"/>
          <p:cNvSpPr/>
          <p:nvPr/>
        </p:nvSpPr>
        <p:spPr bwMode="auto">
          <a:xfrm>
            <a:off x="5440680" y="2148840"/>
            <a:ext cx="484632" cy="4846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2107232035" name="Image 11" descr="preencoded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5468112" y="2185416"/>
            <a:ext cx="411480" cy="411480"/>
          </a:xfrm>
          <a:prstGeom prst="rect">
            <a:avLst/>
          </a:prstGeom>
        </p:spPr>
      </p:pic>
      <p:sp>
        <p:nvSpPr>
          <p:cNvPr id="1727576034" name="Text 32"/>
          <p:cNvSpPr/>
          <p:nvPr/>
        </p:nvSpPr>
        <p:spPr bwMode="auto">
          <a:xfrm>
            <a:off x="6016752" y="21762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Bugs Corrigidos</a:t>
            </a:r>
            <a:endParaRPr lang="en-US" sz="1300"/>
          </a:p>
        </p:txBody>
      </p:sp>
      <p:sp>
        <p:nvSpPr>
          <p:cNvPr id="1517669950" name="Shape 33"/>
          <p:cNvSpPr/>
          <p:nvPr/>
        </p:nvSpPr>
        <p:spPr bwMode="auto">
          <a:xfrm>
            <a:off x="4754880" y="29718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81248658" name="Shape 34"/>
          <p:cNvSpPr/>
          <p:nvPr/>
        </p:nvSpPr>
        <p:spPr bwMode="auto">
          <a:xfrm>
            <a:off x="4864607" y="3108960"/>
            <a:ext cx="502920" cy="5029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930042356" name="Text 35"/>
          <p:cNvSpPr/>
          <p:nvPr/>
        </p:nvSpPr>
        <p:spPr bwMode="auto">
          <a:xfrm>
            <a:off x="4864607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  <a:endParaRPr lang="en-US" sz="1100"/>
          </a:p>
        </p:txBody>
      </p:sp>
      <p:pic>
        <p:nvPicPr>
          <p:cNvPr id="1371996196" name="Image 12" descr="preencoded.png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5468112" y="3145536"/>
            <a:ext cx="411480" cy="411480"/>
          </a:xfrm>
          <a:prstGeom prst="rect">
            <a:avLst/>
          </a:prstGeom>
        </p:spPr>
      </p:pic>
      <p:sp>
        <p:nvSpPr>
          <p:cNvPr id="1074034546" name="Shape 36"/>
          <p:cNvSpPr/>
          <p:nvPr/>
        </p:nvSpPr>
        <p:spPr bwMode="auto">
          <a:xfrm>
            <a:off x="5440680" y="3108960"/>
            <a:ext cx="484632" cy="4846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024199732" name="Image 13" descr="preencoded.png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5468112" y="3145536"/>
            <a:ext cx="411480" cy="411480"/>
          </a:xfrm>
          <a:prstGeom prst="rect">
            <a:avLst/>
          </a:prstGeom>
        </p:spPr>
      </p:pic>
      <p:sp>
        <p:nvSpPr>
          <p:cNvPr id="126752149" name="Text 37"/>
          <p:cNvSpPr/>
          <p:nvPr/>
        </p:nvSpPr>
        <p:spPr bwMode="auto">
          <a:xfrm>
            <a:off x="6016752" y="3136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Conclusão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56304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91926418" name="Text 1"/>
          <p:cNvSpPr/>
          <p:nvPr/>
        </p:nvSpPr>
        <p:spPr bwMode="auto"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Objectivo do Projecto</a:t>
            </a:r>
            <a:endParaRPr lang="en-US" sz="2400"/>
          </a:p>
        </p:txBody>
      </p:sp>
      <p:sp>
        <p:nvSpPr>
          <p:cNvPr id="1529203031" name="Text 2"/>
          <p:cNvSpPr/>
          <p:nvPr/>
        </p:nvSpPr>
        <p:spPr bwMode="auto"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O que é o sistema e para que serve</a:t>
            </a:r>
            <a:endParaRPr lang="en-US" sz="1100"/>
          </a:p>
        </p:txBody>
      </p:sp>
      <p:sp>
        <p:nvSpPr>
          <p:cNvPr id="1693072569" name="Shape 3"/>
          <p:cNvSpPr/>
          <p:nvPr/>
        </p:nvSpPr>
        <p:spPr bwMode="auto">
          <a:xfrm>
            <a:off x="274320" y="1005840"/>
            <a:ext cx="5029200" cy="3794760"/>
          </a:xfrm>
          <a:prstGeom prst="roundRect">
            <a:avLst>
              <a:gd name="adj" fmla="val 2410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pic>
        <p:nvPicPr>
          <p:cNvPr id="212176771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1480" y="1143000"/>
            <a:ext cx="457200" cy="457200"/>
          </a:xfrm>
          <a:prstGeom prst="rect">
            <a:avLst/>
          </a:prstGeom>
        </p:spPr>
      </p:pic>
      <p:sp>
        <p:nvSpPr>
          <p:cNvPr id="1534330715" name="Shape 4"/>
          <p:cNvSpPr/>
          <p:nvPr/>
        </p:nvSpPr>
        <p:spPr bwMode="auto">
          <a:xfrm>
            <a:off x="384048" y="1115568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77321308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11480" y="1143000"/>
            <a:ext cx="457200" cy="457200"/>
          </a:xfrm>
          <a:prstGeom prst="rect">
            <a:avLst/>
          </a:prstGeom>
        </p:spPr>
      </p:pic>
      <p:sp>
        <p:nvSpPr>
          <p:cNvPr id="913651934" name="Text 5"/>
          <p:cNvSpPr/>
          <p:nvPr/>
        </p:nvSpPr>
        <p:spPr bwMode="auto">
          <a:xfrm>
            <a:off x="1005840" y="11155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O que é o sistema?</a:t>
            </a:r>
            <a:endParaRPr lang="en-US" sz="1400"/>
          </a:p>
        </p:txBody>
      </p:sp>
      <p:sp>
        <p:nvSpPr>
          <p:cNvPr id="1470385352" name="Text 6"/>
          <p:cNvSpPr/>
          <p:nvPr/>
        </p:nvSpPr>
        <p:spPr bwMode="auto">
          <a:xfrm>
            <a:off x="457200" y="16916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Um sistema de gestão de frotas de aluguer de veículos desenvolvido em Java para terminal. Permite gerir carros, clientes, alugueres e manutenções, com persistência automática em ficheiros .txt.</a:t>
            </a:r>
            <a:endParaRPr lang="en-US" sz="1200"/>
          </a:p>
        </p:txBody>
      </p:sp>
      <p:sp>
        <p:nvSpPr>
          <p:cNvPr id="1371304172" name="Text 7"/>
          <p:cNvSpPr/>
          <p:nvPr/>
        </p:nvSpPr>
        <p:spPr bwMode="auto">
          <a:xfrm>
            <a:off x="457200" y="3017519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Tecnologias usadas:</a:t>
            </a:r>
            <a:endParaRPr lang="en-US" sz="1200"/>
          </a:p>
        </p:txBody>
      </p:sp>
      <p:sp>
        <p:nvSpPr>
          <p:cNvPr id="1833060499" name="Text 8"/>
          <p:cNvSpPr/>
          <p:nvPr/>
        </p:nvSpPr>
        <p:spPr bwMode="auto">
          <a:xfrm>
            <a:off x="457200" y="3337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Linguagem: Java (JDK 17+)</a:t>
            </a:r>
            <a:endParaRPr lang="en-US" sz="1200"/>
          </a:p>
        </p:txBody>
      </p:sp>
      <p:sp>
        <p:nvSpPr>
          <p:cNvPr id="1622708412" name="Text 9"/>
          <p:cNvSpPr/>
          <p:nvPr/>
        </p:nvSpPr>
        <p:spPr bwMode="auto">
          <a:xfrm>
            <a:off x="45720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Interface: Terminal / Console</a:t>
            </a:r>
            <a:endParaRPr lang="en-US" sz="1200"/>
          </a:p>
        </p:txBody>
      </p:sp>
      <p:sp>
        <p:nvSpPr>
          <p:cNvPr id="717332459" name="Text 10"/>
          <p:cNvSpPr/>
          <p:nvPr/>
        </p:nvSpPr>
        <p:spPr bwMode="auto">
          <a:xfrm>
            <a:off x="457200" y="40142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Armazenamento: Ficheiros .txt</a:t>
            </a:r>
            <a:endParaRPr lang="en-US" sz="1200"/>
          </a:p>
        </p:txBody>
      </p:sp>
      <p:sp>
        <p:nvSpPr>
          <p:cNvPr id="1225306969" name="Text 11"/>
          <p:cNvSpPr/>
          <p:nvPr/>
        </p:nvSpPr>
        <p:spPr bwMode="auto">
          <a:xfrm>
            <a:off x="457200" y="435254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Estruturas: ArrayList, Queue, Iterator</a:t>
            </a:r>
            <a:endParaRPr lang="en-US" sz="1200"/>
          </a:p>
        </p:txBody>
      </p:sp>
      <p:sp>
        <p:nvSpPr>
          <p:cNvPr id="1478253199" name="Shape 12"/>
          <p:cNvSpPr/>
          <p:nvPr/>
        </p:nvSpPr>
        <p:spPr bwMode="auto">
          <a:xfrm>
            <a:off x="5486400" y="10515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906598164" name="Shape 13"/>
          <p:cNvSpPr/>
          <p:nvPr/>
        </p:nvSpPr>
        <p:spPr bwMode="auto">
          <a:xfrm>
            <a:off x="5596128" y="1298448"/>
            <a:ext cx="566928" cy="56692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27497697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623560" y="1325880"/>
            <a:ext cx="502920" cy="502920"/>
          </a:xfrm>
          <a:prstGeom prst="rect">
            <a:avLst/>
          </a:prstGeom>
        </p:spPr>
      </p:pic>
      <p:sp>
        <p:nvSpPr>
          <p:cNvPr id="87176896" name="Text 14"/>
          <p:cNvSpPr/>
          <p:nvPr/>
        </p:nvSpPr>
        <p:spPr bwMode="auto">
          <a:xfrm>
            <a:off x="6309360" y="11612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7</a:t>
            </a:r>
            <a:endParaRPr lang="en-US" sz="3600"/>
          </a:p>
        </p:txBody>
      </p:sp>
      <p:sp>
        <p:nvSpPr>
          <p:cNvPr id="1827903004" name="Text 15"/>
          <p:cNvSpPr/>
          <p:nvPr/>
        </p:nvSpPr>
        <p:spPr bwMode="auto">
          <a:xfrm>
            <a:off x="630936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Classes Java</a:t>
            </a:r>
            <a:endParaRPr lang="en-US" sz="1100"/>
          </a:p>
        </p:txBody>
      </p:sp>
      <p:sp>
        <p:nvSpPr>
          <p:cNvPr id="593585976" name="Shape 16"/>
          <p:cNvSpPr/>
          <p:nvPr/>
        </p:nvSpPr>
        <p:spPr bwMode="auto">
          <a:xfrm>
            <a:off x="5486400" y="233172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05327674" name="Shape 17"/>
          <p:cNvSpPr/>
          <p:nvPr/>
        </p:nvSpPr>
        <p:spPr bwMode="auto">
          <a:xfrm>
            <a:off x="5596128" y="2578608"/>
            <a:ext cx="566928" cy="56692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55269781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623560" y="2606040"/>
            <a:ext cx="502920" cy="502920"/>
          </a:xfrm>
          <a:prstGeom prst="rect">
            <a:avLst/>
          </a:prstGeom>
        </p:spPr>
      </p:pic>
      <p:sp>
        <p:nvSpPr>
          <p:cNvPr id="692608989" name="Text 18"/>
          <p:cNvSpPr/>
          <p:nvPr/>
        </p:nvSpPr>
        <p:spPr bwMode="auto">
          <a:xfrm>
            <a:off x="6309360" y="244144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4</a:t>
            </a:r>
            <a:endParaRPr lang="en-US" sz="3600"/>
          </a:p>
        </p:txBody>
      </p:sp>
      <p:sp>
        <p:nvSpPr>
          <p:cNvPr id="1925098747" name="Text 19"/>
          <p:cNvSpPr/>
          <p:nvPr/>
        </p:nvSpPr>
        <p:spPr bwMode="auto">
          <a:xfrm>
            <a:off x="630936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Ficheiros de Dados</a:t>
            </a:r>
            <a:endParaRPr lang="en-US" sz="1100"/>
          </a:p>
        </p:txBody>
      </p:sp>
      <p:sp>
        <p:nvSpPr>
          <p:cNvPr id="574297893" name="Shape 20"/>
          <p:cNvSpPr/>
          <p:nvPr/>
        </p:nvSpPr>
        <p:spPr bwMode="auto">
          <a:xfrm>
            <a:off x="5486400" y="36118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144622157" name="Shape 21"/>
          <p:cNvSpPr/>
          <p:nvPr/>
        </p:nvSpPr>
        <p:spPr bwMode="auto">
          <a:xfrm>
            <a:off x="5596128" y="3858768"/>
            <a:ext cx="566928" cy="56692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06911709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623560" y="3886200"/>
            <a:ext cx="502920" cy="502920"/>
          </a:xfrm>
          <a:prstGeom prst="rect">
            <a:avLst/>
          </a:prstGeom>
        </p:spPr>
      </p:pic>
      <p:sp>
        <p:nvSpPr>
          <p:cNvPr id="21352382" name="Text 22"/>
          <p:cNvSpPr/>
          <p:nvPr/>
        </p:nvSpPr>
        <p:spPr bwMode="auto">
          <a:xfrm>
            <a:off x="6309360" y="372160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7</a:t>
            </a:r>
            <a:endParaRPr lang="en-US" sz="3600"/>
          </a:p>
        </p:txBody>
      </p:sp>
      <p:sp>
        <p:nvSpPr>
          <p:cNvPr id="289190721" name="Text 23"/>
          <p:cNvSpPr/>
          <p:nvPr/>
        </p:nvSpPr>
        <p:spPr bwMode="auto">
          <a:xfrm>
            <a:off x="630936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Bugs Corrigidos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545251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70647425" name="Text 1"/>
          <p:cNvSpPr/>
          <p:nvPr/>
        </p:nvSpPr>
        <p:spPr bwMode="auto"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e Classes</a:t>
            </a:r>
            <a:endParaRPr lang="en-US" sz="2400"/>
          </a:p>
        </p:txBody>
      </p:sp>
      <p:sp>
        <p:nvSpPr>
          <p:cNvPr id="497800201" name="Text 2"/>
          <p:cNvSpPr/>
          <p:nvPr/>
        </p:nvSpPr>
        <p:spPr bwMode="auto"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Organização do código por responsabilidade</a:t>
            </a:r>
            <a:endParaRPr lang="en-US" sz="1100"/>
          </a:p>
        </p:txBody>
      </p:sp>
      <p:sp>
        <p:nvSpPr>
          <p:cNvPr id="376420497" name="Shape 3"/>
          <p:cNvSpPr/>
          <p:nvPr/>
        </p:nvSpPr>
        <p:spPr bwMode="auto">
          <a:xfrm>
            <a:off x="256032" y="1005840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215175167" name="Shape 4"/>
          <p:cNvSpPr/>
          <p:nvPr/>
        </p:nvSpPr>
        <p:spPr bwMode="auto">
          <a:xfrm>
            <a:off x="365760" y="1161288"/>
            <a:ext cx="512064" cy="51206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76621932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93192" y="1188720"/>
            <a:ext cx="457200" cy="457200"/>
          </a:xfrm>
          <a:prstGeom prst="rect">
            <a:avLst/>
          </a:prstGeom>
        </p:spPr>
      </p:pic>
      <p:sp>
        <p:nvSpPr>
          <p:cNvPr id="307752444" name="Text 5"/>
          <p:cNvSpPr/>
          <p:nvPr/>
        </p:nvSpPr>
        <p:spPr bwMode="auto">
          <a:xfrm>
            <a:off x="1005840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Main</a:t>
            </a:r>
            <a:endParaRPr lang="en-US" sz="1300"/>
          </a:p>
        </p:txBody>
      </p:sp>
      <p:sp>
        <p:nvSpPr>
          <p:cNvPr id="1264587495" name="Text 6"/>
          <p:cNvSpPr/>
          <p:nvPr/>
        </p:nvSpPr>
        <p:spPr bwMode="auto">
          <a:xfrm>
            <a:off x="1005840" y="1426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Interface com o utilizador, menus</a:t>
            </a:r>
            <a:endParaRPr lang="en-US" sz="1100"/>
          </a:p>
        </p:txBody>
      </p:sp>
      <p:sp>
        <p:nvSpPr>
          <p:cNvPr id="59353101" name="Shape 7"/>
          <p:cNvSpPr/>
          <p:nvPr/>
        </p:nvSpPr>
        <p:spPr bwMode="auto">
          <a:xfrm>
            <a:off x="256032" y="1965960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602864259" name="Shape 8"/>
          <p:cNvSpPr/>
          <p:nvPr/>
        </p:nvSpPr>
        <p:spPr bwMode="auto">
          <a:xfrm>
            <a:off x="365760" y="2121408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6786974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3192" y="2148840"/>
            <a:ext cx="457200" cy="457200"/>
          </a:xfrm>
          <a:prstGeom prst="rect">
            <a:avLst/>
          </a:prstGeom>
        </p:spPr>
      </p:pic>
      <p:sp>
        <p:nvSpPr>
          <p:cNvPr id="2147396548" name="Text 9"/>
          <p:cNvSpPr/>
          <p:nvPr/>
        </p:nvSpPr>
        <p:spPr bwMode="auto">
          <a:xfrm>
            <a:off x="1005840" y="2057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FrotaService</a:t>
            </a:r>
            <a:endParaRPr lang="en-US" sz="1300"/>
          </a:p>
        </p:txBody>
      </p:sp>
      <p:sp>
        <p:nvSpPr>
          <p:cNvPr id="340442938" name="Text 10"/>
          <p:cNvSpPr/>
          <p:nvPr/>
        </p:nvSpPr>
        <p:spPr bwMode="auto">
          <a:xfrm>
            <a:off x="1005840" y="23865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Lógica de negócio + persistência</a:t>
            </a:r>
            <a:endParaRPr lang="en-US" sz="1100"/>
          </a:p>
        </p:txBody>
      </p:sp>
      <p:sp>
        <p:nvSpPr>
          <p:cNvPr id="1951689606" name="Shape 11"/>
          <p:cNvSpPr/>
          <p:nvPr/>
        </p:nvSpPr>
        <p:spPr bwMode="auto">
          <a:xfrm>
            <a:off x="256032" y="2926080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245103994" name="Shape 12"/>
          <p:cNvSpPr/>
          <p:nvPr/>
        </p:nvSpPr>
        <p:spPr bwMode="auto">
          <a:xfrm>
            <a:off x="365760" y="3081528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514507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93192" y="3108960"/>
            <a:ext cx="457200" cy="457200"/>
          </a:xfrm>
          <a:prstGeom prst="rect">
            <a:avLst/>
          </a:prstGeom>
        </p:spPr>
      </p:pic>
      <p:sp>
        <p:nvSpPr>
          <p:cNvPr id="2043008095" name="Text 13"/>
          <p:cNvSpPr/>
          <p:nvPr/>
        </p:nvSpPr>
        <p:spPr bwMode="auto">
          <a:xfrm>
            <a:off x="1005840" y="3017519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Carro</a:t>
            </a:r>
            <a:endParaRPr lang="en-US" sz="1300"/>
          </a:p>
        </p:txBody>
      </p:sp>
      <p:sp>
        <p:nvSpPr>
          <p:cNvPr id="612426270" name="Text 14"/>
          <p:cNvSpPr/>
          <p:nvPr/>
        </p:nvSpPr>
        <p:spPr bwMode="auto">
          <a:xfrm>
            <a:off x="1005840" y="33467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Modelo do veículo</a:t>
            </a:r>
            <a:endParaRPr lang="en-US" sz="1100"/>
          </a:p>
        </p:txBody>
      </p:sp>
      <p:sp>
        <p:nvSpPr>
          <p:cNvPr id="362454726" name="Shape 15"/>
          <p:cNvSpPr/>
          <p:nvPr/>
        </p:nvSpPr>
        <p:spPr bwMode="auto">
          <a:xfrm>
            <a:off x="256032" y="3886200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654767409" name="Shape 16"/>
          <p:cNvSpPr/>
          <p:nvPr/>
        </p:nvSpPr>
        <p:spPr bwMode="auto">
          <a:xfrm>
            <a:off x="365760" y="4041648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5472161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93192" y="4069080"/>
            <a:ext cx="457200" cy="457200"/>
          </a:xfrm>
          <a:prstGeom prst="rect">
            <a:avLst/>
          </a:prstGeom>
        </p:spPr>
      </p:pic>
      <p:sp>
        <p:nvSpPr>
          <p:cNvPr id="501974623" name="Text 17"/>
          <p:cNvSpPr/>
          <p:nvPr/>
        </p:nvSpPr>
        <p:spPr bwMode="auto">
          <a:xfrm>
            <a:off x="1005840" y="39776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Cliente</a:t>
            </a:r>
            <a:endParaRPr lang="en-US" sz="1300"/>
          </a:p>
        </p:txBody>
      </p:sp>
      <p:sp>
        <p:nvSpPr>
          <p:cNvPr id="2081972199" name="Text 18"/>
          <p:cNvSpPr/>
          <p:nvPr/>
        </p:nvSpPr>
        <p:spPr bwMode="auto">
          <a:xfrm>
            <a:off x="1005840" y="43068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Dados do cliente</a:t>
            </a:r>
            <a:endParaRPr lang="en-US" sz="1100"/>
          </a:p>
        </p:txBody>
      </p:sp>
      <p:sp>
        <p:nvSpPr>
          <p:cNvPr id="1736556573" name="Shape 19"/>
          <p:cNvSpPr/>
          <p:nvPr/>
        </p:nvSpPr>
        <p:spPr bwMode="auto">
          <a:xfrm>
            <a:off x="4663440" y="1005840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313085336" name="Shape 20"/>
          <p:cNvSpPr/>
          <p:nvPr/>
        </p:nvSpPr>
        <p:spPr bwMode="auto">
          <a:xfrm>
            <a:off x="4773168" y="1161288"/>
            <a:ext cx="512064" cy="512064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pic>
        <p:nvPicPr>
          <p:cNvPr id="106654343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800600" y="1188720"/>
            <a:ext cx="457200" cy="457200"/>
          </a:xfrm>
          <a:prstGeom prst="rect">
            <a:avLst/>
          </a:prstGeom>
        </p:spPr>
      </p:pic>
      <p:sp>
        <p:nvSpPr>
          <p:cNvPr id="1980983174" name="Text 21"/>
          <p:cNvSpPr/>
          <p:nvPr/>
        </p:nvSpPr>
        <p:spPr bwMode="auto">
          <a:xfrm>
            <a:off x="5413248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Aluguer</a:t>
            </a:r>
            <a:endParaRPr lang="en-US" sz="1300"/>
          </a:p>
        </p:txBody>
      </p:sp>
      <p:sp>
        <p:nvSpPr>
          <p:cNvPr id="628301778" name="Text 22"/>
          <p:cNvSpPr/>
          <p:nvPr/>
        </p:nvSpPr>
        <p:spPr bwMode="auto">
          <a:xfrm>
            <a:off x="5413248" y="1426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Registo de aluguer com datas</a:t>
            </a:r>
            <a:endParaRPr lang="en-US" sz="1100"/>
          </a:p>
        </p:txBody>
      </p:sp>
      <p:sp>
        <p:nvSpPr>
          <p:cNvPr id="949416238" name="Shape 23"/>
          <p:cNvSpPr/>
          <p:nvPr/>
        </p:nvSpPr>
        <p:spPr bwMode="auto">
          <a:xfrm>
            <a:off x="4663440" y="1965960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822032377" name="Shape 24"/>
          <p:cNvSpPr/>
          <p:nvPr/>
        </p:nvSpPr>
        <p:spPr bwMode="auto">
          <a:xfrm>
            <a:off x="4773168" y="2121408"/>
            <a:ext cx="512064" cy="512064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pic>
        <p:nvPicPr>
          <p:cNvPr id="693678569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800600" y="2148840"/>
            <a:ext cx="457200" cy="457200"/>
          </a:xfrm>
          <a:prstGeom prst="rect">
            <a:avLst/>
          </a:prstGeom>
        </p:spPr>
      </p:pic>
      <p:sp>
        <p:nvSpPr>
          <p:cNvPr id="1564114811" name="Text 25"/>
          <p:cNvSpPr/>
          <p:nvPr/>
        </p:nvSpPr>
        <p:spPr bwMode="auto">
          <a:xfrm>
            <a:off x="5413248" y="2057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Manutencao</a:t>
            </a:r>
            <a:endParaRPr lang="en-US" sz="1300"/>
          </a:p>
        </p:txBody>
      </p:sp>
      <p:sp>
        <p:nvSpPr>
          <p:cNvPr id="992581457" name="Text 26"/>
          <p:cNvSpPr/>
          <p:nvPr/>
        </p:nvSpPr>
        <p:spPr bwMode="auto">
          <a:xfrm>
            <a:off x="5413248" y="23865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Entrada na fila de manutenção</a:t>
            </a:r>
            <a:endParaRPr lang="en-US" sz="1100"/>
          </a:p>
        </p:txBody>
      </p:sp>
      <p:sp>
        <p:nvSpPr>
          <p:cNvPr id="1866987139" name="Shape 27"/>
          <p:cNvSpPr/>
          <p:nvPr/>
        </p:nvSpPr>
        <p:spPr bwMode="auto">
          <a:xfrm>
            <a:off x="4663440" y="2926080"/>
            <a:ext cx="4251960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100719121" name="Shape 28"/>
          <p:cNvSpPr/>
          <p:nvPr/>
        </p:nvSpPr>
        <p:spPr bwMode="auto">
          <a:xfrm>
            <a:off x="4773168" y="3081528"/>
            <a:ext cx="512064" cy="512064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035152383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800600" y="3108960"/>
            <a:ext cx="457200" cy="457200"/>
          </a:xfrm>
          <a:prstGeom prst="rect">
            <a:avLst/>
          </a:prstGeom>
        </p:spPr>
      </p:pic>
      <p:sp>
        <p:nvSpPr>
          <p:cNvPr id="1764893164" name="Text 29"/>
          <p:cNvSpPr/>
          <p:nvPr/>
        </p:nvSpPr>
        <p:spPr bwMode="auto">
          <a:xfrm>
            <a:off x="5413248" y="3017519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Validar</a:t>
            </a:r>
            <a:endParaRPr lang="en-US" sz="1300"/>
          </a:p>
        </p:txBody>
      </p:sp>
      <p:sp>
        <p:nvSpPr>
          <p:cNvPr id="1217146442" name="Text 30"/>
          <p:cNvSpPr/>
          <p:nvPr/>
        </p:nvSpPr>
        <p:spPr bwMode="auto">
          <a:xfrm>
            <a:off x="5413248" y="33467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Validação por expressões regulares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151576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7863602" name="Text 1"/>
          <p:cNvSpPr/>
          <p:nvPr/>
        </p:nvSpPr>
        <p:spPr bwMode="auto"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Funcionalidades — Perfis de Acesso</a:t>
            </a:r>
            <a:endParaRPr lang="en-US" sz="2400"/>
          </a:p>
        </p:txBody>
      </p:sp>
      <p:sp>
        <p:nvSpPr>
          <p:cNvPr id="158973177" name="Text 2"/>
          <p:cNvSpPr/>
          <p:nvPr/>
        </p:nvSpPr>
        <p:spPr bwMode="auto"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Dois perfis com menus distintos</a:t>
            </a:r>
            <a:endParaRPr lang="en-US" sz="1100"/>
          </a:p>
        </p:txBody>
      </p:sp>
      <p:sp>
        <p:nvSpPr>
          <p:cNvPr id="2043622611" name="Shape 3"/>
          <p:cNvSpPr/>
          <p:nvPr/>
        </p:nvSpPr>
        <p:spPr bwMode="auto">
          <a:xfrm>
            <a:off x="256032" y="1005840"/>
            <a:ext cx="4114800" cy="3886200"/>
          </a:xfrm>
          <a:prstGeom prst="roundRect">
            <a:avLst>
              <a:gd name="adj" fmla="val 235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086825974" name="Shape 4"/>
          <p:cNvSpPr/>
          <p:nvPr/>
        </p:nvSpPr>
        <p:spPr bwMode="auto">
          <a:xfrm>
            <a:off x="384048" y="1115568"/>
            <a:ext cx="603504" cy="60350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33167494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1480" y="1143000"/>
            <a:ext cx="548640" cy="548640"/>
          </a:xfrm>
          <a:prstGeom prst="rect">
            <a:avLst/>
          </a:prstGeom>
        </p:spPr>
      </p:pic>
      <p:sp>
        <p:nvSpPr>
          <p:cNvPr id="1945156944" name="Text 5"/>
          <p:cNvSpPr/>
          <p:nvPr/>
        </p:nvSpPr>
        <p:spPr bwMode="auto">
          <a:xfrm>
            <a:off x="1097280" y="11155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Gestor</a:t>
            </a:r>
            <a:endParaRPr lang="en-US" sz="1800"/>
          </a:p>
        </p:txBody>
      </p:sp>
      <p:sp>
        <p:nvSpPr>
          <p:cNvPr id="1139373539" name="Text 6"/>
          <p:cNvSpPr/>
          <p:nvPr/>
        </p:nvSpPr>
        <p:spPr bwMode="auto">
          <a:xfrm>
            <a:off x="411480" y="1828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Registar / Listar / Remover Carros</a:t>
            </a:r>
            <a:endParaRPr lang="en-US" sz="1200"/>
          </a:p>
        </p:txBody>
      </p:sp>
      <p:sp>
        <p:nvSpPr>
          <p:cNvPr id="2053850557" name="Text 7"/>
          <p:cNvSpPr/>
          <p:nvPr/>
        </p:nvSpPr>
        <p:spPr bwMode="auto">
          <a:xfrm>
            <a:off x="411480" y="2286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Registar / Listar / Remover Clientes</a:t>
            </a:r>
            <a:endParaRPr lang="en-US" sz="1200"/>
          </a:p>
        </p:txBody>
      </p:sp>
      <p:sp>
        <p:nvSpPr>
          <p:cNvPr id="610351319" name="Text 8"/>
          <p:cNvSpPr/>
          <p:nvPr/>
        </p:nvSpPr>
        <p:spPr bwMode="auto">
          <a:xfrm>
            <a:off x="411480" y="2743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Enviar carro para Manutenção</a:t>
            </a:r>
            <a:endParaRPr lang="en-US" sz="1200"/>
          </a:p>
        </p:txBody>
      </p:sp>
      <p:sp>
        <p:nvSpPr>
          <p:cNvPr id="1086945261" name="Text 9"/>
          <p:cNvSpPr/>
          <p:nvPr/>
        </p:nvSpPr>
        <p:spPr bwMode="auto">
          <a:xfrm>
            <a:off x="411480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Consultar Fila de Manutenção</a:t>
            </a:r>
            <a:endParaRPr lang="en-US" sz="1200"/>
          </a:p>
        </p:txBody>
      </p:sp>
      <p:sp>
        <p:nvSpPr>
          <p:cNvPr id="927145140" name="Text 10"/>
          <p:cNvSpPr/>
          <p:nvPr/>
        </p:nvSpPr>
        <p:spPr bwMode="auto">
          <a:xfrm>
            <a:off x="411480" y="3657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Concluir Manutenção</a:t>
            </a:r>
            <a:endParaRPr lang="en-US" sz="1200"/>
          </a:p>
        </p:txBody>
      </p:sp>
      <p:sp>
        <p:nvSpPr>
          <p:cNvPr id="1169074443" name="Text 11"/>
          <p:cNvSpPr/>
          <p:nvPr/>
        </p:nvSpPr>
        <p:spPr bwMode="auto">
          <a:xfrm>
            <a:off x="411480" y="4114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Relatório Estatístico da Frota</a:t>
            </a:r>
            <a:endParaRPr lang="en-US" sz="1200"/>
          </a:p>
        </p:txBody>
      </p:sp>
      <p:sp>
        <p:nvSpPr>
          <p:cNvPr id="1543998002" name="Shape 12"/>
          <p:cNvSpPr/>
          <p:nvPr/>
        </p:nvSpPr>
        <p:spPr bwMode="auto">
          <a:xfrm>
            <a:off x="4773168" y="1005840"/>
            <a:ext cx="4114800" cy="3886200"/>
          </a:xfrm>
          <a:prstGeom prst="roundRect">
            <a:avLst>
              <a:gd name="adj" fmla="val 235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782880014" name="Shape 13"/>
          <p:cNvSpPr/>
          <p:nvPr/>
        </p:nvSpPr>
        <p:spPr bwMode="auto">
          <a:xfrm>
            <a:off x="4901184" y="1115568"/>
            <a:ext cx="603504" cy="603504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21916980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28616" y="1143000"/>
            <a:ext cx="548640" cy="548640"/>
          </a:xfrm>
          <a:prstGeom prst="rect">
            <a:avLst/>
          </a:prstGeom>
        </p:spPr>
      </p:pic>
      <p:sp>
        <p:nvSpPr>
          <p:cNvPr id="1668286384" name="Text 14"/>
          <p:cNvSpPr/>
          <p:nvPr/>
        </p:nvSpPr>
        <p:spPr bwMode="auto">
          <a:xfrm>
            <a:off x="5614416" y="11155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Operário</a:t>
            </a:r>
            <a:endParaRPr lang="en-US" sz="1800"/>
          </a:p>
        </p:txBody>
      </p:sp>
      <p:sp>
        <p:nvSpPr>
          <p:cNvPr id="1138735551" name="Text 15"/>
          <p:cNvSpPr/>
          <p:nvPr/>
        </p:nvSpPr>
        <p:spPr bwMode="auto">
          <a:xfrm>
            <a:off x="4928616" y="1828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Registar Carros e Clientes</a:t>
            </a:r>
            <a:endParaRPr lang="en-US" sz="1200"/>
          </a:p>
        </p:txBody>
      </p:sp>
      <p:sp>
        <p:nvSpPr>
          <p:cNvPr id="413789657" name="Text 16"/>
          <p:cNvSpPr/>
          <p:nvPr/>
        </p:nvSpPr>
        <p:spPr bwMode="auto">
          <a:xfrm>
            <a:off x="4928616" y="2286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Alugar Carro (com validações)</a:t>
            </a:r>
            <a:endParaRPr lang="en-US" sz="1200"/>
          </a:p>
        </p:txBody>
      </p:sp>
      <p:sp>
        <p:nvSpPr>
          <p:cNvPr id="176639643" name="Text 17"/>
          <p:cNvSpPr/>
          <p:nvPr/>
        </p:nvSpPr>
        <p:spPr bwMode="auto">
          <a:xfrm>
            <a:off x="4928616" y="2743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Devolver Carro</a:t>
            </a:r>
            <a:endParaRPr lang="en-US" sz="1200"/>
          </a:p>
        </p:txBody>
      </p:sp>
      <p:sp>
        <p:nvSpPr>
          <p:cNvPr id="2026182339" name="Text 18"/>
          <p:cNvSpPr/>
          <p:nvPr/>
        </p:nvSpPr>
        <p:spPr bwMode="auto">
          <a:xfrm>
            <a:off x="4928616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Listar Carros Disponíveis</a:t>
            </a:r>
            <a:endParaRPr lang="en-US" sz="1200"/>
          </a:p>
        </p:txBody>
      </p:sp>
      <p:sp>
        <p:nvSpPr>
          <p:cNvPr id="1184337276" name="Text 19"/>
          <p:cNvSpPr/>
          <p:nvPr/>
        </p:nvSpPr>
        <p:spPr bwMode="auto">
          <a:xfrm>
            <a:off x="4928616" y="3657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Pesquisar Carro por Matrícula</a:t>
            </a:r>
            <a:endParaRPr lang="en-US" sz="1200"/>
          </a:p>
        </p:txBody>
      </p:sp>
      <p:sp>
        <p:nvSpPr>
          <p:cNvPr id="622824192" name="Text 20"/>
          <p:cNvSpPr/>
          <p:nvPr/>
        </p:nvSpPr>
        <p:spPr bwMode="auto">
          <a:xfrm>
            <a:off x="4928616" y="41148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1E293B"/>
                </a:solidFill>
                <a:latin typeface="Arial"/>
                <a:ea typeface="Arial"/>
                <a:cs typeface="Arial"/>
              </a:rPr>
              <a:t>Ver Histórico de Alugueres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272881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24520336" name="Text 1"/>
          <p:cNvSpPr/>
          <p:nvPr/>
        </p:nvSpPr>
        <p:spPr bwMode="auto"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Funcionalidades — Aluguer e Manutenção</a:t>
            </a:r>
            <a:endParaRPr lang="en-US" sz="2400"/>
          </a:p>
        </p:txBody>
      </p:sp>
      <p:sp>
        <p:nvSpPr>
          <p:cNvPr id="2075009595" name="Text 2"/>
          <p:cNvSpPr/>
          <p:nvPr/>
        </p:nvSpPr>
        <p:spPr bwMode="auto"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Fluxo de validações e fila FIFO</a:t>
            </a:r>
            <a:endParaRPr lang="en-US" sz="1100"/>
          </a:p>
        </p:txBody>
      </p:sp>
      <p:sp>
        <p:nvSpPr>
          <p:cNvPr id="1241587249" name="Shape 3"/>
          <p:cNvSpPr/>
          <p:nvPr/>
        </p:nvSpPr>
        <p:spPr bwMode="auto">
          <a:xfrm>
            <a:off x="256032" y="1005840"/>
            <a:ext cx="4297680" cy="3886200"/>
          </a:xfrm>
          <a:prstGeom prst="roundRect">
            <a:avLst>
              <a:gd name="adj" fmla="val 235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57866399" name="Text 4"/>
          <p:cNvSpPr/>
          <p:nvPr/>
        </p:nvSpPr>
        <p:spPr bwMode="auto">
          <a:xfrm>
            <a:off x="4114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Fluxo de Aluguer</a:t>
            </a:r>
            <a:endParaRPr lang="en-US" sz="1400"/>
          </a:p>
        </p:txBody>
      </p:sp>
      <p:sp>
        <p:nvSpPr>
          <p:cNvPr id="2007841324" name="Shape 5"/>
          <p:cNvSpPr/>
          <p:nvPr/>
        </p:nvSpPr>
        <p:spPr bwMode="auto">
          <a:xfrm>
            <a:off x="347472" y="155448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750412381" name="Text 6"/>
          <p:cNvSpPr/>
          <p:nvPr/>
        </p:nvSpPr>
        <p:spPr bwMode="auto">
          <a:xfrm>
            <a:off x="457200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1. Carro existe na frota?</a:t>
            </a:r>
            <a:endParaRPr lang="en-US" sz="1100"/>
          </a:p>
        </p:txBody>
      </p:sp>
      <p:sp>
        <p:nvSpPr>
          <p:cNvPr id="1404135038" name="Shape 7"/>
          <p:cNvSpPr/>
          <p:nvPr/>
        </p:nvSpPr>
        <p:spPr bwMode="auto">
          <a:xfrm>
            <a:off x="347472" y="2075688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58267149" name="Text 8"/>
          <p:cNvSpPr/>
          <p:nvPr/>
        </p:nvSpPr>
        <p:spPr bwMode="auto">
          <a:xfrm>
            <a:off x="457200" y="2121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2. Carro está disponível?</a:t>
            </a:r>
            <a:endParaRPr lang="en-US" sz="1100"/>
          </a:p>
        </p:txBody>
      </p:sp>
      <p:sp>
        <p:nvSpPr>
          <p:cNvPr id="1806830900" name="Shape 9"/>
          <p:cNvSpPr/>
          <p:nvPr/>
        </p:nvSpPr>
        <p:spPr bwMode="auto">
          <a:xfrm>
            <a:off x="347472" y="2596896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800486786" name="Text 10"/>
          <p:cNvSpPr/>
          <p:nvPr/>
        </p:nvSpPr>
        <p:spPr bwMode="auto">
          <a:xfrm>
            <a:off x="457200" y="2642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3. Carro não está em manutenção?</a:t>
            </a:r>
            <a:endParaRPr lang="en-US" sz="1100"/>
          </a:p>
        </p:txBody>
      </p:sp>
      <p:sp>
        <p:nvSpPr>
          <p:cNvPr id="113595149" name="Shape 11"/>
          <p:cNvSpPr/>
          <p:nvPr/>
        </p:nvSpPr>
        <p:spPr bwMode="auto">
          <a:xfrm>
            <a:off x="347472" y="3118104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513231868" name="Text 12"/>
          <p:cNvSpPr/>
          <p:nvPr/>
        </p:nvSpPr>
        <p:spPr bwMode="auto">
          <a:xfrm>
            <a:off x="457200" y="31638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4. Cliente existe no sistema?</a:t>
            </a:r>
            <a:endParaRPr lang="en-US" sz="1100"/>
          </a:p>
        </p:txBody>
      </p:sp>
      <p:sp>
        <p:nvSpPr>
          <p:cNvPr id="2112265662" name="Shape 13"/>
          <p:cNvSpPr/>
          <p:nvPr/>
        </p:nvSpPr>
        <p:spPr bwMode="auto">
          <a:xfrm>
            <a:off x="347472" y="3639312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209361790" name="Text 14"/>
          <p:cNvSpPr/>
          <p:nvPr/>
        </p:nvSpPr>
        <p:spPr bwMode="auto">
          <a:xfrm>
            <a:off x="457200" y="36850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Arial"/>
                <a:ea typeface="Arial"/>
                <a:cs typeface="Arial"/>
              </a:rPr>
              <a:t>5. Cliente não tem carro activo?</a:t>
            </a:r>
            <a:endParaRPr lang="en-US" sz="1100"/>
          </a:p>
        </p:txBody>
      </p:sp>
      <p:sp>
        <p:nvSpPr>
          <p:cNvPr id="1084463018" name="Shape 15"/>
          <p:cNvSpPr/>
          <p:nvPr/>
        </p:nvSpPr>
        <p:spPr bwMode="auto">
          <a:xfrm>
            <a:off x="347472" y="4160519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E8F9F3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541507193" name="Text 16"/>
          <p:cNvSpPr/>
          <p:nvPr/>
        </p:nvSpPr>
        <p:spPr bwMode="auto">
          <a:xfrm>
            <a:off x="457200" y="4206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7A4E"/>
                </a:solidFill>
                <a:latin typeface="Arial"/>
                <a:ea typeface="Arial"/>
                <a:cs typeface="Arial"/>
              </a:rPr>
              <a:t>6. Regista aluguer + guarda ficheiro</a:t>
            </a:r>
            <a:endParaRPr lang="en-US" sz="1100"/>
          </a:p>
        </p:txBody>
      </p:sp>
      <p:sp>
        <p:nvSpPr>
          <p:cNvPr id="7316424" name="Shape 17"/>
          <p:cNvSpPr/>
          <p:nvPr/>
        </p:nvSpPr>
        <p:spPr bwMode="auto">
          <a:xfrm>
            <a:off x="4773168" y="1005840"/>
            <a:ext cx="4114800" cy="3886200"/>
          </a:xfrm>
          <a:prstGeom prst="roundRect">
            <a:avLst>
              <a:gd name="adj" fmla="val 2353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532418355" name="Shape 18"/>
          <p:cNvSpPr/>
          <p:nvPr/>
        </p:nvSpPr>
        <p:spPr bwMode="auto">
          <a:xfrm>
            <a:off x="4901184" y="1078992"/>
            <a:ext cx="475488" cy="47548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1974146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19471" y="1097280"/>
            <a:ext cx="438912" cy="438912"/>
          </a:xfrm>
          <a:prstGeom prst="rect">
            <a:avLst/>
          </a:prstGeom>
        </p:spPr>
      </p:pic>
      <p:sp>
        <p:nvSpPr>
          <p:cNvPr id="31957301" name="Text 19"/>
          <p:cNvSpPr/>
          <p:nvPr/>
        </p:nvSpPr>
        <p:spPr bwMode="auto">
          <a:xfrm>
            <a:off x="5486400" y="10789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Fila de Manutenção</a:t>
            </a:r>
            <a:endParaRPr lang="en-US" sz="1400"/>
          </a:p>
        </p:txBody>
      </p:sp>
      <p:sp>
        <p:nvSpPr>
          <p:cNvPr id="739410996" name="Text 20"/>
          <p:cNvSpPr/>
          <p:nvPr/>
        </p:nvSpPr>
        <p:spPr bwMode="auto">
          <a:xfrm>
            <a:off x="4919471" y="1664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0A8CC"/>
                </a:solidFill>
                <a:latin typeface="Courier New"/>
                <a:ea typeface="Courier New"/>
                <a:cs typeface="Courier New"/>
              </a:rPr>
              <a:t>Estrutura: Queue&lt;Manutencao&gt;</a:t>
            </a:r>
            <a:endParaRPr lang="en-US" sz="1100"/>
          </a:p>
        </p:txBody>
      </p:sp>
      <p:sp>
        <p:nvSpPr>
          <p:cNvPr id="88976416" name="Text 21"/>
          <p:cNvSpPr/>
          <p:nvPr/>
        </p:nvSpPr>
        <p:spPr bwMode="auto">
          <a:xfrm>
            <a:off x="4919471" y="1956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Implementada com LinkedList</a:t>
            </a:r>
            <a:endParaRPr lang="en-US" sz="1100"/>
          </a:p>
        </p:txBody>
      </p:sp>
      <p:sp>
        <p:nvSpPr>
          <p:cNvPr id="1709773489" name="Shape 22"/>
          <p:cNvSpPr/>
          <p:nvPr/>
        </p:nvSpPr>
        <p:spPr bwMode="auto">
          <a:xfrm>
            <a:off x="4864607" y="237744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577770517" name="Text 23"/>
          <p:cNvSpPr/>
          <p:nvPr/>
        </p:nvSpPr>
        <p:spPr bwMode="auto">
          <a:xfrm>
            <a:off x="4974336" y="2432303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Enviar</a:t>
            </a:r>
            <a:endParaRPr lang="en-US" sz="1200"/>
          </a:p>
        </p:txBody>
      </p:sp>
      <p:sp>
        <p:nvSpPr>
          <p:cNvPr id="1985452365" name="Text 24"/>
          <p:cNvSpPr/>
          <p:nvPr/>
        </p:nvSpPr>
        <p:spPr bwMode="auto">
          <a:xfrm>
            <a:off x="4974336" y="272491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Courier New"/>
                <a:ea typeface="Courier New"/>
                <a:cs typeface="Courier New"/>
              </a:rPr>
              <a:t>offer()</a:t>
            </a:r>
            <a:endParaRPr lang="en-US" sz="1100"/>
          </a:p>
        </p:txBody>
      </p:sp>
      <p:sp>
        <p:nvSpPr>
          <p:cNvPr id="1826257657" name="Text 25"/>
          <p:cNvSpPr/>
          <p:nvPr/>
        </p:nvSpPr>
        <p:spPr bwMode="auto">
          <a:xfrm>
            <a:off x="6446520" y="24871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Carro entra no fim da fila</a:t>
            </a:r>
            <a:endParaRPr lang="en-US" sz="1100"/>
          </a:p>
        </p:txBody>
      </p:sp>
      <p:sp>
        <p:nvSpPr>
          <p:cNvPr id="932254435" name="Shape 26"/>
          <p:cNvSpPr/>
          <p:nvPr/>
        </p:nvSpPr>
        <p:spPr bwMode="auto">
          <a:xfrm>
            <a:off x="4864607" y="324612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338145450" name="Text 27"/>
          <p:cNvSpPr/>
          <p:nvPr/>
        </p:nvSpPr>
        <p:spPr bwMode="auto">
          <a:xfrm>
            <a:off x="4974336" y="33009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Consultar</a:t>
            </a:r>
            <a:endParaRPr lang="en-US" sz="1200"/>
          </a:p>
        </p:txBody>
      </p:sp>
      <p:sp>
        <p:nvSpPr>
          <p:cNvPr id="1127674818" name="Text 28"/>
          <p:cNvSpPr/>
          <p:nvPr/>
        </p:nvSpPr>
        <p:spPr bwMode="auto">
          <a:xfrm>
            <a:off x="4974336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Courier New"/>
                <a:ea typeface="Courier New"/>
                <a:cs typeface="Courier New"/>
              </a:rPr>
              <a:t>peek()</a:t>
            </a:r>
            <a:endParaRPr lang="en-US" sz="1100"/>
          </a:p>
        </p:txBody>
      </p:sp>
      <p:sp>
        <p:nvSpPr>
          <p:cNvPr id="41067921" name="Text 29"/>
          <p:cNvSpPr/>
          <p:nvPr/>
        </p:nvSpPr>
        <p:spPr bwMode="auto">
          <a:xfrm>
            <a:off x="6446520" y="33558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Ver sem remover</a:t>
            </a:r>
            <a:endParaRPr lang="en-US" sz="1100"/>
          </a:p>
        </p:txBody>
      </p:sp>
      <p:sp>
        <p:nvSpPr>
          <p:cNvPr id="1588342129" name="Shape 30"/>
          <p:cNvSpPr/>
          <p:nvPr/>
        </p:nvSpPr>
        <p:spPr bwMode="auto">
          <a:xfrm>
            <a:off x="4864607" y="411480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957553977" name="Text 31"/>
          <p:cNvSpPr/>
          <p:nvPr/>
        </p:nvSpPr>
        <p:spPr bwMode="auto">
          <a:xfrm>
            <a:off x="4974336" y="4169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Concluir</a:t>
            </a:r>
            <a:endParaRPr lang="en-US" sz="1200"/>
          </a:p>
        </p:txBody>
      </p:sp>
      <p:sp>
        <p:nvSpPr>
          <p:cNvPr id="1568798350" name="Text 32"/>
          <p:cNvSpPr/>
          <p:nvPr/>
        </p:nvSpPr>
        <p:spPr bwMode="auto">
          <a:xfrm>
            <a:off x="4974336" y="4462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Courier New"/>
                <a:ea typeface="Courier New"/>
                <a:cs typeface="Courier New"/>
              </a:rPr>
              <a:t>poll()</a:t>
            </a:r>
            <a:endParaRPr lang="en-US" sz="1100"/>
          </a:p>
        </p:txBody>
      </p:sp>
      <p:sp>
        <p:nvSpPr>
          <p:cNvPr id="405445324" name="Text 33"/>
          <p:cNvSpPr/>
          <p:nvPr/>
        </p:nvSpPr>
        <p:spPr bwMode="auto">
          <a:xfrm>
            <a:off x="6446520" y="42245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Remove o primeiro (FIFO)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078651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87202358" name="Text 1"/>
          <p:cNvSpPr/>
          <p:nvPr/>
        </p:nvSpPr>
        <p:spPr bwMode="auto"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Persistência de Dados</a:t>
            </a:r>
            <a:endParaRPr lang="en-US" sz="2400"/>
          </a:p>
        </p:txBody>
      </p:sp>
      <p:sp>
        <p:nvSpPr>
          <p:cNvPr id="1383057017" name="Text 2"/>
          <p:cNvSpPr/>
          <p:nvPr/>
        </p:nvSpPr>
        <p:spPr bwMode="auto"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Leitura e escrita automática em ficheiros .txt</a:t>
            </a:r>
            <a:endParaRPr lang="en-US" sz="1100"/>
          </a:p>
        </p:txBody>
      </p:sp>
      <p:sp>
        <p:nvSpPr>
          <p:cNvPr id="692724740" name="Shape 3"/>
          <p:cNvSpPr/>
          <p:nvPr/>
        </p:nvSpPr>
        <p:spPr bwMode="auto">
          <a:xfrm>
            <a:off x="256032" y="1051560"/>
            <a:ext cx="8631936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812698338" name="Shape 4"/>
          <p:cNvSpPr/>
          <p:nvPr/>
        </p:nvSpPr>
        <p:spPr bwMode="auto">
          <a:xfrm>
            <a:off x="365760" y="118872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72469035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93192" y="1216151"/>
            <a:ext cx="493776" cy="493776"/>
          </a:xfrm>
          <a:prstGeom prst="rect">
            <a:avLst/>
          </a:prstGeom>
        </p:spPr>
      </p:pic>
      <p:sp>
        <p:nvSpPr>
          <p:cNvPr id="1375207323" name="Text 5"/>
          <p:cNvSpPr/>
          <p:nvPr/>
        </p:nvSpPr>
        <p:spPr bwMode="auto">
          <a:xfrm>
            <a:off x="1051560" y="11430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carros.txt</a:t>
            </a:r>
            <a:endParaRPr lang="en-US" sz="1300"/>
          </a:p>
        </p:txBody>
      </p:sp>
      <p:sp>
        <p:nvSpPr>
          <p:cNvPr id="970260920" name="Text 6"/>
          <p:cNvSpPr/>
          <p:nvPr/>
        </p:nvSpPr>
        <p:spPr bwMode="auto">
          <a:xfrm>
            <a:off x="1051560" y="1472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Todos os veículos da frota</a:t>
            </a:r>
            <a:endParaRPr lang="en-US" sz="1000"/>
          </a:p>
        </p:txBody>
      </p:sp>
      <p:sp>
        <p:nvSpPr>
          <p:cNvPr id="1492456935" name="Shape 7"/>
          <p:cNvSpPr/>
          <p:nvPr/>
        </p:nvSpPr>
        <p:spPr bwMode="auto">
          <a:xfrm>
            <a:off x="3520440" y="1216151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40998824" name="Text 8"/>
          <p:cNvSpPr/>
          <p:nvPr/>
        </p:nvSpPr>
        <p:spPr bwMode="auto">
          <a:xfrm>
            <a:off x="3611880" y="125272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matricula;marca;modelo;ano;disponivel;emManutencao;clienteBi</a:t>
            </a:r>
            <a:endParaRPr lang="en-US" sz="1000"/>
          </a:p>
        </p:txBody>
      </p:sp>
      <p:sp>
        <p:nvSpPr>
          <p:cNvPr id="2027747586" name="Shape 9"/>
          <p:cNvSpPr/>
          <p:nvPr/>
        </p:nvSpPr>
        <p:spPr bwMode="auto">
          <a:xfrm>
            <a:off x="256032" y="2011680"/>
            <a:ext cx="8631936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628038023" name="Shape 10"/>
          <p:cNvSpPr/>
          <p:nvPr/>
        </p:nvSpPr>
        <p:spPr bwMode="auto">
          <a:xfrm>
            <a:off x="365760" y="214884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76202197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3192" y="2176272"/>
            <a:ext cx="493776" cy="493776"/>
          </a:xfrm>
          <a:prstGeom prst="rect">
            <a:avLst/>
          </a:prstGeom>
        </p:spPr>
      </p:pic>
      <p:sp>
        <p:nvSpPr>
          <p:cNvPr id="253334823" name="Text 11"/>
          <p:cNvSpPr/>
          <p:nvPr/>
        </p:nvSpPr>
        <p:spPr bwMode="auto">
          <a:xfrm>
            <a:off x="1051560" y="21031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clientes.txt</a:t>
            </a:r>
            <a:endParaRPr lang="en-US" sz="1300"/>
          </a:p>
        </p:txBody>
      </p:sp>
      <p:sp>
        <p:nvSpPr>
          <p:cNvPr id="1669189360" name="Text 12"/>
          <p:cNvSpPr/>
          <p:nvPr/>
        </p:nvSpPr>
        <p:spPr bwMode="auto">
          <a:xfrm>
            <a:off x="1051560" y="2432303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Clientes registados</a:t>
            </a:r>
            <a:endParaRPr lang="en-US" sz="1000"/>
          </a:p>
        </p:txBody>
      </p:sp>
      <p:sp>
        <p:nvSpPr>
          <p:cNvPr id="135202531" name="Shape 13"/>
          <p:cNvSpPr/>
          <p:nvPr/>
        </p:nvSpPr>
        <p:spPr bwMode="auto">
          <a:xfrm>
            <a:off x="3520440" y="2176272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91002810" name="Text 14"/>
          <p:cNvSpPr/>
          <p:nvPr/>
        </p:nvSpPr>
        <p:spPr bwMode="auto">
          <a:xfrm>
            <a:off x="3611880" y="221284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nome;idade;n_bi;endereco;telefone;activo</a:t>
            </a:r>
            <a:endParaRPr lang="en-US" sz="1000"/>
          </a:p>
        </p:txBody>
      </p:sp>
      <p:sp>
        <p:nvSpPr>
          <p:cNvPr id="242036894" name="Shape 15"/>
          <p:cNvSpPr/>
          <p:nvPr/>
        </p:nvSpPr>
        <p:spPr bwMode="auto">
          <a:xfrm>
            <a:off x="256032" y="2971800"/>
            <a:ext cx="8631936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182220855" name="Shape 16"/>
          <p:cNvSpPr/>
          <p:nvPr/>
        </p:nvSpPr>
        <p:spPr bwMode="auto">
          <a:xfrm>
            <a:off x="365760" y="310896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64327941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93192" y="3136392"/>
            <a:ext cx="493776" cy="493776"/>
          </a:xfrm>
          <a:prstGeom prst="rect">
            <a:avLst/>
          </a:prstGeom>
        </p:spPr>
      </p:pic>
      <p:sp>
        <p:nvSpPr>
          <p:cNvPr id="1835967358" name="Text 17"/>
          <p:cNvSpPr/>
          <p:nvPr/>
        </p:nvSpPr>
        <p:spPr bwMode="auto">
          <a:xfrm>
            <a:off x="1051560" y="30632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alugueres.txt</a:t>
            </a:r>
            <a:endParaRPr lang="en-US" sz="1300"/>
          </a:p>
        </p:txBody>
      </p:sp>
      <p:sp>
        <p:nvSpPr>
          <p:cNvPr id="1962803076" name="Text 18"/>
          <p:cNvSpPr/>
          <p:nvPr/>
        </p:nvSpPr>
        <p:spPr bwMode="auto">
          <a:xfrm>
            <a:off x="1051560" y="3392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Histórico de alugueres</a:t>
            </a:r>
            <a:endParaRPr lang="en-US" sz="1000"/>
          </a:p>
        </p:txBody>
      </p:sp>
      <p:sp>
        <p:nvSpPr>
          <p:cNvPr id="1104556989" name="Shape 19"/>
          <p:cNvSpPr/>
          <p:nvPr/>
        </p:nvSpPr>
        <p:spPr bwMode="auto">
          <a:xfrm>
            <a:off x="3520440" y="3136392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45508270" name="Text 20"/>
          <p:cNvSpPr/>
          <p:nvPr/>
        </p:nvSpPr>
        <p:spPr bwMode="auto">
          <a:xfrm>
            <a:off x="3611880" y="317296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matricula;n_BI;dataAluguer;dataDevolucao</a:t>
            </a:r>
            <a:endParaRPr lang="en-US" sz="1000"/>
          </a:p>
        </p:txBody>
      </p:sp>
      <p:sp>
        <p:nvSpPr>
          <p:cNvPr id="2110386137" name="Shape 21"/>
          <p:cNvSpPr/>
          <p:nvPr/>
        </p:nvSpPr>
        <p:spPr bwMode="auto">
          <a:xfrm>
            <a:off x="256032" y="3931920"/>
            <a:ext cx="8631936" cy="822960"/>
          </a:xfrm>
          <a:prstGeom prst="roundRect">
            <a:avLst>
              <a:gd name="adj" fmla="val 11111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983511324" name="Shape 22"/>
          <p:cNvSpPr/>
          <p:nvPr/>
        </p:nvSpPr>
        <p:spPr bwMode="auto">
          <a:xfrm>
            <a:off x="365760" y="406908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04295384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93192" y="4096512"/>
            <a:ext cx="493776" cy="493776"/>
          </a:xfrm>
          <a:prstGeom prst="rect">
            <a:avLst/>
          </a:prstGeom>
        </p:spPr>
      </p:pic>
      <p:sp>
        <p:nvSpPr>
          <p:cNvPr id="239044542" name="Text 23"/>
          <p:cNvSpPr/>
          <p:nvPr/>
        </p:nvSpPr>
        <p:spPr bwMode="auto">
          <a:xfrm>
            <a:off x="1051560" y="40233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D1B2A"/>
                </a:solidFill>
                <a:latin typeface="Courier New"/>
                <a:ea typeface="Courier New"/>
                <a:cs typeface="Courier New"/>
              </a:rPr>
              <a:t>manutencoes.txt</a:t>
            </a:r>
            <a:endParaRPr lang="en-US" sz="1300"/>
          </a:p>
        </p:txBody>
      </p:sp>
      <p:sp>
        <p:nvSpPr>
          <p:cNvPr id="1077506210" name="Text 24"/>
          <p:cNvSpPr/>
          <p:nvPr/>
        </p:nvSpPr>
        <p:spPr bwMode="auto">
          <a:xfrm>
            <a:off x="105156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Fila de manutenção activa</a:t>
            </a:r>
            <a:endParaRPr lang="en-US" sz="1000"/>
          </a:p>
        </p:txBody>
      </p:sp>
      <p:sp>
        <p:nvSpPr>
          <p:cNvPr id="431687998" name="Shape 25"/>
          <p:cNvSpPr/>
          <p:nvPr/>
        </p:nvSpPr>
        <p:spPr bwMode="auto">
          <a:xfrm>
            <a:off x="3520440" y="4096512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95257576" name="Text 26"/>
          <p:cNvSpPr/>
          <p:nvPr/>
        </p:nvSpPr>
        <p:spPr bwMode="auto">
          <a:xfrm>
            <a:off x="3611880" y="413308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matricula;descricao;dataEntrada</a:t>
            </a:r>
            <a:endParaRPr lang="en-US" sz="1000"/>
          </a:p>
        </p:txBody>
      </p:sp>
      <p:sp>
        <p:nvSpPr>
          <p:cNvPr id="668502592" name="Shape 27"/>
          <p:cNvSpPr/>
          <p:nvPr/>
        </p:nvSpPr>
        <p:spPr bwMode="auto">
          <a:xfrm>
            <a:off x="256032" y="4709160"/>
            <a:ext cx="8631936" cy="256032"/>
          </a:xfrm>
          <a:prstGeom prst="roundRect">
            <a:avLst>
              <a:gd name="adj" fmla="val 35714"/>
            </a:avLst>
          </a:prstGeom>
          <a:solidFill>
            <a:srgbClr val="E8F0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273199970" name="Text 28"/>
          <p:cNvSpPr/>
          <p:nvPr/>
        </p:nvSpPr>
        <p:spPr bwMode="auto"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1B3A5C"/>
                </a:solidFill>
                <a:latin typeface="Arial"/>
                <a:ea typeface="Arial"/>
                <a:cs typeface="Arial"/>
              </a:rPr>
              <a:t>Carregamento ao iniciar: BufferedReader + FileReader     |     Guardado após cada operação: PrintWriter + FileWriter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430155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17034661" name="Text 1"/>
          <p:cNvSpPr/>
          <p:nvPr/>
        </p:nvSpPr>
        <p:spPr bwMode="auto"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Conceitos Aplicados</a:t>
            </a:r>
            <a:endParaRPr lang="en-US" sz="2400"/>
          </a:p>
        </p:txBody>
      </p:sp>
      <p:sp>
        <p:nvSpPr>
          <p:cNvPr id="1165541360" name="Text 2"/>
          <p:cNvSpPr/>
          <p:nvPr/>
        </p:nvSpPr>
        <p:spPr bwMode="auto"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Os 7 requisitos do código</a:t>
            </a:r>
            <a:r>
              <a:rPr lang="pt-BR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 fonte</a:t>
            </a:r>
            <a:endParaRPr lang="en-US" sz="1100"/>
          </a:p>
        </p:txBody>
      </p:sp>
      <p:sp>
        <p:nvSpPr>
          <p:cNvPr id="855137683" name="Shape 3"/>
          <p:cNvSpPr/>
          <p:nvPr/>
        </p:nvSpPr>
        <p:spPr bwMode="auto">
          <a:xfrm>
            <a:off x="256032" y="1005840"/>
            <a:ext cx="425196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312825736" name="Shape 4"/>
          <p:cNvSpPr/>
          <p:nvPr/>
        </p:nvSpPr>
        <p:spPr bwMode="auto">
          <a:xfrm>
            <a:off x="365760" y="1133856"/>
            <a:ext cx="521208" cy="52120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3312597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93192" y="1161288"/>
            <a:ext cx="457200" cy="457200"/>
          </a:xfrm>
          <a:prstGeom prst="rect">
            <a:avLst/>
          </a:prstGeom>
        </p:spPr>
      </p:pic>
      <p:sp>
        <p:nvSpPr>
          <p:cNvPr id="56643490" name="Text 5"/>
          <p:cNvSpPr/>
          <p:nvPr/>
        </p:nvSpPr>
        <p:spPr bwMode="auto">
          <a:xfrm>
            <a:off x="1005840" y="10789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Selecção (if / switch)</a:t>
            </a:r>
            <a:endParaRPr lang="en-US" sz="1200"/>
          </a:p>
        </p:txBody>
      </p:sp>
      <p:sp>
        <p:nvSpPr>
          <p:cNvPr id="55200281" name="Text 6"/>
          <p:cNvSpPr/>
          <p:nvPr/>
        </p:nvSpPr>
        <p:spPr bwMode="auto">
          <a:xfrm>
            <a:off x="1005840" y="1408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switch nos menus; if para validar estados antes de alugar ou remover</a:t>
            </a:r>
            <a:endParaRPr lang="en-US" sz="1000"/>
          </a:p>
        </p:txBody>
      </p:sp>
      <p:sp>
        <p:nvSpPr>
          <p:cNvPr id="729138876" name="Shape 7"/>
          <p:cNvSpPr/>
          <p:nvPr/>
        </p:nvSpPr>
        <p:spPr bwMode="auto">
          <a:xfrm>
            <a:off x="256032" y="1965960"/>
            <a:ext cx="425196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2049389943" name="Shape 8"/>
          <p:cNvSpPr/>
          <p:nvPr/>
        </p:nvSpPr>
        <p:spPr bwMode="auto">
          <a:xfrm>
            <a:off x="365760" y="2093976"/>
            <a:ext cx="521208" cy="52120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74124172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3192" y="2121408"/>
            <a:ext cx="457200" cy="457200"/>
          </a:xfrm>
          <a:prstGeom prst="rect">
            <a:avLst/>
          </a:prstGeom>
        </p:spPr>
      </p:pic>
      <p:sp>
        <p:nvSpPr>
          <p:cNvPr id="16553192" name="Text 9"/>
          <p:cNvSpPr/>
          <p:nvPr/>
        </p:nvSpPr>
        <p:spPr bwMode="auto">
          <a:xfrm>
            <a:off x="1005840" y="2039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Repetição (for / do-while)</a:t>
            </a:r>
            <a:endParaRPr lang="en-US" sz="1200"/>
          </a:p>
        </p:txBody>
      </p:sp>
      <p:sp>
        <p:nvSpPr>
          <p:cNvPr id="964869760" name="Text 10"/>
          <p:cNvSpPr/>
          <p:nvPr/>
        </p:nvSpPr>
        <p:spPr bwMode="auto">
          <a:xfrm>
            <a:off x="1005840" y="23682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do-while mantém menus activos; for-each percorre ArrayList</a:t>
            </a:r>
            <a:endParaRPr lang="en-US" sz="1000"/>
          </a:p>
        </p:txBody>
      </p:sp>
      <p:sp>
        <p:nvSpPr>
          <p:cNvPr id="1355925308" name="Shape 11"/>
          <p:cNvSpPr/>
          <p:nvPr/>
        </p:nvSpPr>
        <p:spPr bwMode="auto">
          <a:xfrm>
            <a:off x="256032" y="2926080"/>
            <a:ext cx="425196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428571002" name="Shape 12"/>
          <p:cNvSpPr/>
          <p:nvPr/>
        </p:nvSpPr>
        <p:spPr bwMode="auto">
          <a:xfrm>
            <a:off x="365760" y="3054096"/>
            <a:ext cx="521208" cy="52120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77972673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93192" y="3081528"/>
            <a:ext cx="457200" cy="457200"/>
          </a:xfrm>
          <a:prstGeom prst="rect">
            <a:avLst/>
          </a:prstGeom>
        </p:spPr>
      </p:pic>
      <p:sp>
        <p:nvSpPr>
          <p:cNvPr id="832383821" name="Text 13"/>
          <p:cNvSpPr/>
          <p:nvPr/>
        </p:nvSpPr>
        <p:spPr bwMode="auto">
          <a:xfrm>
            <a:off x="1005840" y="29992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ArrayList</a:t>
            </a:r>
            <a:endParaRPr lang="en-US" sz="1200"/>
          </a:p>
        </p:txBody>
      </p:sp>
      <p:sp>
        <p:nvSpPr>
          <p:cNvPr id="846804256" name="Text 14"/>
          <p:cNvSpPr/>
          <p:nvPr/>
        </p:nvSpPr>
        <p:spPr bwMode="auto">
          <a:xfrm>
            <a:off x="1005840" y="33284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carros, clientes e alugueres armazenados dinamicamente em FrotaService</a:t>
            </a:r>
            <a:endParaRPr lang="en-US" sz="1000"/>
          </a:p>
        </p:txBody>
      </p:sp>
      <p:sp>
        <p:nvSpPr>
          <p:cNvPr id="289642000" name="Shape 15"/>
          <p:cNvSpPr/>
          <p:nvPr/>
        </p:nvSpPr>
        <p:spPr bwMode="auto">
          <a:xfrm>
            <a:off x="256032" y="3886200"/>
            <a:ext cx="425196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429290891" name="Shape 16"/>
          <p:cNvSpPr/>
          <p:nvPr/>
        </p:nvSpPr>
        <p:spPr bwMode="auto">
          <a:xfrm>
            <a:off x="365760" y="4014216"/>
            <a:ext cx="521208" cy="52120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8347488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93192" y="4041648"/>
            <a:ext cx="457200" cy="457200"/>
          </a:xfrm>
          <a:prstGeom prst="rect">
            <a:avLst/>
          </a:prstGeom>
        </p:spPr>
      </p:pic>
      <p:sp>
        <p:nvSpPr>
          <p:cNvPr id="476878043" name="Text 17"/>
          <p:cNvSpPr/>
          <p:nvPr/>
        </p:nvSpPr>
        <p:spPr bwMode="auto">
          <a:xfrm>
            <a:off x="1005840" y="39593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Registos (Classes)</a:t>
            </a:r>
            <a:endParaRPr lang="en-US" sz="1200"/>
          </a:p>
        </p:txBody>
      </p:sp>
      <p:sp>
        <p:nvSpPr>
          <p:cNvPr id="240698371" name="Text 18"/>
          <p:cNvSpPr/>
          <p:nvPr/>
        </p:nvSpPr>
        <p:spPr bwMode="auto">
          <a:xfrm>
            <a:off x="1005840" y="42885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Carro, Cliente, Aluguer, Manutencao — atributos + getters/setters</a:t>
            </a:r>
            <a:endParaRPr lang="en-US" sz="1000"/>
          </a:p>
        </p:txBody>
      </p:sp>
      <p:sp>
        <p:nvSpPr>
          <p:cNvPr id="1849282192" name="Shape 19"/>
          <p:cNvSpPr/>
          <p:nvPr/>
        </p:nvSpPr>
        <p:spPr bwMode="auto">
          <a:xfrm>
            <a:off x="4645152" y="1005840"/>
            <a:ext cx="425196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941733197" name="Shape 20"/>
          <p:cNvSpPr/>
          <p:nvPr/>
        </p:nvSpPr>
        <p:spPr bwMode="auto">
          <a:xfrm>
            <a:off x="4754880" y="1133856"/>
            <a:ext cx="521208" cy="52120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06527345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782312" y="1161288"/>
            <a:ext cx="457200" cy="457200"/>
          </a:xfrm>
          <a:prstGeom prst="rect">
            <a:avLst/>
          </a:prstGeom>
        </p:spPr>
      </p:pic>
      <p:sp>
        <p:nvSpPr>
          <p:cNvPr id="573949882" name="Text 21"/>
          <p:cNvSpPr/>
          <p:nvPr/>
        </p:nvSpPr>
        <p:spPr bwMode="auto">
          <a:xfrm>
            <a:off x="5394960" y="10789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Manipulação de Strings</a:t>
            </a:r>
            <a:endParaRPr lang="en-US" sz="1200"/>
          </a:p>
        </p:txBody>
      </p:sp>
      <p:sp>
        <p:nvSpPr>
          <p:cNvPr id="535613593" name="Text 22"/>
          <p:cNvSpPr/>
          <p:nvPr/>
        </p:nvSpPr>
        <p:spPr bwMode="auto">
          <a:xfrm>
            <a:off x="5394960" y="1408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regex em Validar.java; split(";") na desserialização; DateTimeFormatter</a:t>
            </a:r>
            <a:endParaRPr lang="en-US" sz="1000"/>
          </a:p>
        </p:txBody>
      </p:sp>
      <p:sp>
        <p:nvSpPr>
          <p:cNvPr id="203200926" name="Shape 23"/>
          <p:cNvSpPr/>
          <p:nvPr/>
        </p:nvSpPr>
        <p:spPr bwMode="auto">
          <a:xfrm>
            <a:off x="4645152" y="1965960"/>
            <a:ext cx="425196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764012319" name="Shape 24"/>
          <p:cNvSpPr/>
          <p:nvPr/>
        </p:nvSpPr>
        <p:spPr bwMode="auto">
          <a:xfrm>
            <a:off x="4754880" y="2093976"/>
            <a:ext cx="521208" cy="52120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444234281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782312" y="2121408"/>
            <a:ext cx="457200" cy="457200"/>
          </a:xfrm>
          <a:prstGeom prst="rect">
            <a:avLst/>
          </a:prstGeom>
        </p:spPr>
      </p:pic>
      <p:sp>
        <p:nvSpPr>
          <p:cNvPr id="1319911105" name="Text 25"/>
          <p:cNvSpPr/>
          <p:nvPr/>
        </p:nvSpPr>
        <p:spPr bwMode="auto">
          <a:xfrm>
            <a:off x="5394960" y="2039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Funções / Métodos</a:t>
            </a:r>
            <a:endParaRPr lang="en-US" sz="1200"/>
          </a:p>
        </p:txBody>
      </p:sp>
      <p:sp>
        <p:nvSpPr>
          <p:cNvPr id="925036282" name="Text 26"/>
          <p:cNvSpPr/>
          <p:nvPr/>
        </p:nvSpPr>
        <p:spPr bwMode="auto">
          <a:xfrm>
            <a:off x="5394960" y="23682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Cada classe tem responsabilidade única: Main, FrotaService, Validar</a:t>
            </a:r>
            <a:endParaRPr lang="en-US" sz="1000"/>
          </a:p>
        </p:txBody>
      </p:sp>
      <p:sp>
        <p:nvSpPr>
          <p:cNvPr id="2005807161" name="Shape 27"/>
          <p:cNvSpPr/>
          <p:nvPr/>
        </p:nvSpPr>
        <p:spPr bwMode="auto">
          <a:xfrm>
            <a:off x="4645152" y="2926080"/>
            <a:ext cx="425196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259444246" name="Shape 28"/>
          <p:cNvSpPr/>
          <p:nvPr/>
        </p:nvSpPr>
        <p:spPr bwMode="auto">
          <a:xfrm>
            <a:off x="4754880" y="3054096"/>
            <a:ext cx="521208" cy="52120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563968045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782312" y="3081528"/>
            <a:ext cx="457200" cy="457200"/>
          </a:xfrm>
          <a:prstGeom prst="rect">
            <a:avLst/>
          </a:prstGeom>
        </p:spPr>
      </p:pic>
      <p:sp>
        <p:nvSpPr>
          <p:cNvPr id="906920150" name="Text 29"/>
          <p:cNvSpPr/>
          <p:nvPr/>
        </p:nvSpPr>
        <p:spPr bwMode="auto">
          <a:xfrm>
            <a:off x="5394960" y="29992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Ficheiros (.txt)</a:t>
            </a:r>
            <a:endParaRPr lang="en-US" sz="1200"/>
          </a:p>
        </p:txBody>
      </p:sp>
      <p:sp>
        <p:nvSpPr>
          <p:cNvPr id="32977228" name="Text 30"/>
          <p:cNvSpPr/>
          <p:nvPr/>
        </p:nvSpPr>
        <p:spPr bwMode="auto">
          <a:xfrm>
            <a:off x="5394960" y="33284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4 ficheiros com leitura BufferedReader e escrita PrintWriter automáticas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369092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9536054" name="Text 1"/>
          <p:cNvSpPr/>
          <p:nvPr/>
        </p:nvSpPr>
        <p:spPr bwMode="auto"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Bugs Identificados e Corrigidos</a:t>
            </a:r>
            <a:endParaRPr lang="en-US" sz="2400"/>
          </a:p>
        </p:txBody>
      </p:sp>
      <p:sp>
        <p:nvSpPr>
          <p:cNvPr id="314244274" name="Text 2"/>
          <p:cNvSpPr/>
          <p:nvPr/>
        </p:nvSpPr>
        <p:spPr bwMode="auto"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0A8CC"/>
                </a:solidFill>
                <a:latin typeface="Arial"/>
                <a:ea typeface="Arial"/>
                <a:cs typeface="Arial"/>
              </a:rPr>
              <a:t>7 problemas encontrados e resolvidos</a:t>
            </a:r>
            <a:endParaRPr lang="en-US" sz="1100"/>
          </a:p>
        </p:txBody>
      </p:sp>
      <p:sp>
        <p:nvSpPr>
          <p:cNvPr id="1841350855" name="Shape 3"/>
          <p:cNvSpPr/>
          <p:nvPr/>
        </p:nvSpPr>
        <p:spPr bwMode="auto">
          <a:xfrm>
            <a:off x="256032" y="1005840"/>
            <a:ext cx="8631936" cy="502920"/>
          </a:xfrm>
          <a:prstGeom prst="roundRect">
            <a:avLst>
              <a:gd name="adj" fmla="val 18182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490293985" name="Shape 4"/>
          <p:cNvSpPr/>
          <p:nvPr/>
        </p:nvSpPr>
        <p:spPr bwMode="auto">
          <a:xfrm>
            <a:off x="347472" y="106984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3054389" name="Text 5"/>
          <p:cNvSpPr/>
          <p:nvPr/>
        </p:nvSpPr>
        <p:spPr bwMode="auto">
          <a:xfrm>
            <a:off x="34747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en-US" sz="1100"/>
          </a:p>
        </p:txBody>
      </p:sp>
      <p:sp>
        <p:nvSpPr>
          <p:cNvPr id="207596499" name="Text 6"/>
          <p:cNvSpPr/>
          <p:nvPr/>
        </p:nvSpPr>
        <p:spPr bwMode="auto">
          <a:xfrm>
            <a:off x="822960" y="10698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Carro.java</a:t>
            </a:r>
            <a:endParaRPr lang="en-US" sz="1000"/>
          </a:p>
        </p:txBody>
      </p:sp>
      <p:sp>
        <p:nvSpPr>
          <p:cNvPr id="871497358" name="Text 7"/>
          <p:cNvSpPr/>
          <p:nvPr/>
        </p:nvSpPr>
        <p:spPr bwMode="auto">
          <a:xfrm>
            <a:off x="2651760" y="10698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Arial"/>
                <a:ea typeface="Arial"/>
                <a:cs typeface="Arial"/>
              </a:rPr>
              <a:t>emManutencao não serializado — estado perdido ao reiniciar</a:t>
            </a:r>
            <a:endParaRPr lang="en-US" sz="1000"/>
          </a:p>
        </p:txBody>
      </p:sp>
      <p:sp>
        <p:nvSpPr>
          <p:cNvPr id="900309803" name="Shape 8"/>
          <p:cNvSpPr/>
          <p:nvPr/>
        </p:nvSpPr>
        <p:spPr bwMode="auto">
          <a:xfrm>
            <a:off x="6537960" y="1069848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547696076" name="Text 9"/>
          <p:cNvSpPr/>
          <p:nvPr/>
        </p:nvSpPr>
        <p:spPr bwMode="auto">
          <a:xfrm>
            <a:off x="6583680" y="108813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65F46"/>
                </a:solidFill>
                <a:latin typeface="Arial"/>
                <a:ea typeface="Arial"/>
                <a:cs typeface="Arial"/>
              </a:rPr>
              <a:t>toFileString() com 7 campos</a:t>
            </a:r>
            <a:endParaRPr lang="en-US" sz="900"/>
          </a:p>
        </p:txBody>
      </p:sp>
      <p:sp>
        <p:nvSpPr>
          <p:cNvPr id="523485321" name="Shape 10"/>
          <p:cNvSpPr/>
          <p:nvPr/>
        </p:nvSpPr>
        <p:spPr bwMode="auto">
          <a:xfrm>
            <a:off x="256032" y="1572768"/>
            <a:ext cx="8631936" cy="502920"/>
          </a:xfrm>
          <a:prstGeom prst="roundRect">
            <a:avLst>
              <a:gd name="adj" fmla="val 18182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703893484" name="Shape 11"/>
          <p:cNvSpPr/>
          <p:nvPr/>
        </p:nvSpPr>
        <p:spPr bwMode="auto">
          <a:xfrm>
            <a:off x="347472" y="1636776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3007567" name="Text 12"/>
          <p:cNvSpPr/>
          <p:nvPr/>
        </p:nvSpPr>
        <p:spPr bwMode="auto">
          <a:xfrm>
            <a:off x="347472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1100"/>
          </a:p>
        </p:txBody>
      </p:sp>
      <p:sp>
        <p:nvSpPr>
          <p:cNvPr id="11838233" name="Text 13"/>
          <p:cNvSpPr/>
          <p:nvPr/>
        </p:nvSpPr>
        <p:spPr bwMode="auto">
          <a:xfrm>
            <a:off x="822960" y="16367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Validar.java</a:t>
            </a:r>
            <a:endParaRPr lang="en-US" sz="1000"/>
          </a:p>
        </p:txBody>
      </p:sp>
      <p:sp>
        <p:nvSpPr>
          <p:cNvPr id="2017818464" name="Text 14"/>
          <p:cNvSpPr/>
          <p:nvPr/>
        </p:nvSpPr>
        <p:spPr bwMode="auto">
          <a:xfrm>
            <a:off x="2651760" y="16367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Arial"/>
                <a:ea typeface="Arial"/>
                <a:cs typeface="Arial"/>
              </a:rPr>
              <a:t>Regex da matrícula com separadores inválidos</a:t>
            </a:r>
            <a:endParaRPr lang="en-US" sz="1000"/>
          </a:p>
        </p:txBody>
      </p:sp>
      <p:sp>
        <p:nvSpPr>
          <p:cNvPr id="654851613" name="Shape 15"/>
          <p:cNvSpPr/>
          <p:nvPr/>
        </p:nvSpPr>
        <p:spPr bwMode="auto">
          <a:xfrm>
            <a:off x="6537960" y="1636776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918346024" name="Text 16"/>
          <p:cNvSpPr/>
          <p:nvPr/>
        </p:nvSpPr>
        <p:spPr bwMode="auto">
          <a:xfrm>
            <a:off x="6583680" y="1655063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65F46"/>
                </a:solidFill>
                <a:latin typeface="Arial"/>
                <a:ea typeface="Arial"/>
                <a:cs typeface="Arial"/>
              </a:rPr>
              <a:t>[A-Z]{2}-\d{2}-\d{2}-[A-Z]{2}</a:t>
            </a:r>
            <a:endParaRPr lang="en-US" sz="900"/>
          </a:p>
        </p:txBody>
      </p:sp>
      <p:sp>
        <p:nvSpPr>
          <p:cNvPr id="6838675" name="Shape 17"/>
          <p:cNvSpPr/>
          <p:nvPr/>
        </p:nvSpPr>
        <p:spPr bwMode="auto">
          <a:xfrm>
            <a:off x="256032" y="2139696"/>
            <a:ext cx="8631936" cy="502920"/>
          </a:xfrm>
          <a:prstGeom prst="roundRect">
            <a:avLst>
              <a:gd name="adj" fmla="val 18182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133372230" name="Shape 18"/>
          <p:cNvSpPr/>
          <p:nvPr/>
        </p:nvSpPr>
        <p:spPr bwMode="auto">
          <a:xfrm>
            <a:off x="347472" y="2203704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10109252" name="Text 19"/>
          <p:cNvSpPr/>
          <p:nvPr/>
        </p:nvSpPr>
        <p:spPr bwMode="auto">
          <a:xfrm>
            <a:off x="34747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1100"/>
          </a:p>
        </p:txBody>
      </p:sp>
      <p:sp>
        <p:nvSpPr>
          <p:cNvPr id="1099812568" name="Text 20"/>
          <p:cNvSpPr/>
          <p:nvPr/>
        </p:nvSpPr>
        <p:spPr bwMode="auto">
          <a:xfrm>
            <a:off x="822960" y="22037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FrotaService.java</a:t>
            </a:r>
            <a:endParaRPr lang="en-US" sz="1000"/>
          </a:p>
        </p:txBody>
      </p:sp>
      <p:sp>
        <p:nvSpPr>
          <p:cNvPr id="1001675250" name="Text 21"/>
          <p:cNvSpPr/>
          <p:nvPr/>
        </p:nvSpPr>
        <p:spPr bwMode="auto">
          <a:xfrm>
            <a:off x="2651760" y="220370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Arial"/>
                <a:ea typeface="Arial"/>
                <a:cs typeface="Arial"/>
              </a:rPr>
              <a:t>Dois Scanner sobre System.in — comportamento imprevisível</a:t>
            </a:r>
            <a:endParaRPr lang="en-US" sz="1000"/>
          </a:p>
        </p:txBody>
      </p:sp>
      <p:sp>
        <p:nvSpPr>
          <p:cNvPr id="1336514510" name="Shape 22"/>
          <p:cNvSpPr/>
          <p:nvPr/>
        </p:nvSpPr>
        <p:spPr bwMode="auto">
          <a:xfrm>
            <a:off x="6537960" y="2203704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014895186" name="Text 23"/>
          <p:cNvSpPr/>
          <p:nvPr/>
        </p:nvSpPr>
        <p:spPr bwMode="auto">
          <a:xfrm>
            <a:off x="6583680" y="222199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65F46"/>
                </a:solidFill>
                <a:latin typeface="Arial"/>
                <a:ea typeface="Arial"/>
                <a:cs typeface="Arial"/>
              </a:rPr>
              <a:t>Scanner partilhado via construtor</a:t>
            </a:r>
            <a:endParaRPr lang="en-US" sz="900"/>
          </a:p>
        </p:txBody>
      </p:sp>
      <p:sp>
        <p:nvSpPr>
          <p:cNvPr id="1199375193" name="Shape 24"/>
          <p:cNvSpPr/>
          <p:nvPr/>
        </p:nvSpPr>
        <p:spPr bwMode="auto">
          <a:xfrm>
            <a:off x="256032" y="2706624"/>
            <a:ext cx="8631936" cy="502920"/>
          </a:xfrm>
          <a:prstGeom prst="roundRect">
            <a:avLst>
              <a:gd name="adj" fmla="val 18182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743134245" name="Shape 25"/>
          <p:cNvSpPr/>
          <p:nvPr/>
        </p:nvSpPr>
        <p:spPr bwMode="auto">
          <a:xfrm>
            <a:off x="347472" y="2770632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41824775" name="Text 26"/>
          <p:cNvSpPr/>
          <p:nvPr/>
        </p:nvSpPr>
        <p:spPr bwMode="auto">
          <a:xfrm>
            <a:off x="347472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en-US" sz="1100"/>
          </a:p>
        </p:txBody>
      </p:sp>
      <p:sp>
        <p:nvSpPr>
          <p:cNvPr id="1797342669" name="Text 27"/>
          <p:cNvSpPr/>
          <p:nvPr/>
        </p:nvSpPr>
        <p:spPr bwMode="auto">
          <a:xfrm>
            <a:off x="822960" y="27706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FrotaService.java</a:t>
            </a:r>
            <a:endParaRPr lang="en-US" sz="1000"/>
          </a:p>
        </p:txBody>
      </p:sp>
      <p:sp>
        <p:nvSpPr>
          <p:cNvPr id="1443783304" name="Text 28"/>
          <p:cNvSpPr/>
          <p:nvPr/>
        </p:nvSpPr>
        <p:spPr bwMode="auto">
          <a:xfrm>
            <a:off x="2651760" y="27706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Arial"/>
                <a:ea typeface="Arial"/>
                <a:cs typeface="Arial"/>
              </a:rPr>
              <a:t>removerCarro/Cliente com for-each → ConcurrentModificationException</a:t>
            </a:r>
            <a:endParaRPr lang="en-US" sz="1000"/>
          </a:p>
        </p:txBody>
      </p:sp>
      <p:sp>
        <p:nvSpPr>
          <p:cNvPr id="233062132" name="Shape 29"/>
          <p:cNvSpPr/>
          <p:nvPr/>
        </p:nvSpPr>
        <p:spPr bwMode="auto">
          <a:xfrm>
            <a:off x="6537960" y="2770632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823388192" name="Text 30"/>
          <p:cNvSpPr/>
          <p:nvPr/>
        </p:nvSpPr>
        <p:spPr bwMode="auto">
          <a:xfrm>
            <a:off x="6583680" y="278892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65F46"/>
                </a:solidFill>
                <a:latin typeface="Arial"/>
                <a:ea typeface="Arial"/>
                <a:cs typeface="Arial"/>
              </a:rPr>
              <a:t>Substituído por Iterator</a:t>
            </a:r>
            <a:endParaRPr lang="en-US" sz="900"/>
          </a:p>
        </p:txBody>
      </p:sp>
      <p:sp>
        <p:nvSpPr>
          <p:cNvPr id="745735855" name="Shape 31"/>
          <p:cNvSpPr/>
          <p:nvPr/>
        </p:nvSpPr>
        <p:spPr bwMode="auto">
          <a:xfrm>
            <a:off x="256032" y="3273552"/>
            <a:ext cx="8631936" cy="502920"/>
          </a:xfrm>
          <a:prstGeom prst="roundRect">
            <a:avLst>
              <a:gd name="adj" fmla="val 18182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404196680" name="Shape 32"/>
          <p:cNvSpPr/>
          <p:nvPr/>
        </p:nvSpPr>
        <p:spPr bwMode="auto">
          <a:xfrm>
            <a:off x="347472" y="333756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27996906" name="Text 33"/>
          <p:cNvSpPr/>
          <p:nvPr/>
        </p:nvSpPr>
        <p:spPr bwMode="auto">
          <a:xfrm>
            <a:off x="34747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en-US" sz="1100"/>
          </a:p>
        </p:txBody>
      </p:sp>
      <p:sp>
        <p:nvSpPr>
          <p:cNvPr id="103401325" name="Text 34"/>
          <p:cNvSpPr/>
          <p:nvPr/>
        </p:nvSpPr>
        <p:spPr bwMode="auto">
          <a:xfrm>
            <a:off x="822960" y="3337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FrotaService.java</a:t>
            </a:r>
            <a:endParaRPr lang="en-US" sz="1000"/>
          </a:p>
        </p:txBody>
      </p:sp>
      <p:sp>
        <p:nvSpPr>
          <p:cNvPr id="2078733134" name="Text 35"/>
          <p:cNvSpPr/>
          <p:nvPr/>
        </p:nvSpPr>
        <p:spPr bwMode="auto">
          <a:xfrm>
            <a:off x="2651760" y="333756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Arial"/>
                <a:ea typeface="Arial"/>
                <a:cs typeface="Arial"/>
              </a:rPr>
              <a:t>concluirManutencao() com recursão → risco de StackOverflow</a:t>
            </a:r>
            <a:endParaRPr lang="en-US" sz="1000"/>
          </a:p>
        </p:txBody>
      </p:sp>
      <p:sp>
        <p:nvSpPr>
          <p:cNvPr id="1234238078" name="Shape 36"/>
          <p:cNvSpPr/>
          <p:nvPr/>
        </p:nvSpPr>
        <p:spPr bwMode="auto">
          <a:xfrm>
            <a:off x="6537960" y="3337560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411263611" name="Text 37"/>
          <p:cNvSpPr/>
          <p:nvPr/>
        </p:nvSpPr>
        <p:spPr bwMode="auto">
          <a:xfrm>
            <a:off x="6583680" y="335584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65F46"/>
                </a:solidFill>
                <a:latin typeface="Arial"/>
                <a:ea typeface="Arial"/>
                <a:cs typeface="Arial"/>
              </a:rPr>
              <a:t>Eliminada a recursão</a:t>
            </a:r>
            <a:endParaRPr lang="en-US" sz="900"/>
          </a:p>
        </p:txBody>
      </p:sp>
      <p:sp>
        <p:nvSpPr>
          <p:cNvPr id="104722118" name="Shape 38"/>
          <p:cNvSpPr/>
          <p:nvPr/>
        </p:nvSpPr>
        <p:spPr bwMode="auto">
          <a:xfrm>
            <a:off x="256032" y="3840480"/>
            <a:ext cx="8631936" cy="502920"/>
          </a:xfrm>
          <a:prstGeom prst="roundRect">
            <a:avLst>
              <a:gd name="adj" fmla="val 18182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106421351" name="Shape 39"/>
          <p:cNvSpPr/>
          <p:nvPr/>
        </p:nvSpPr>
        <p:spPr bwMode="auto">
          <a:xfrm>
            <a:off x="347472" y="390448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88992506" name="Text 40"/>
          <p:cNvSpPr/>
          <p:nvPr/>
        </p:nvSpPr>
        <p:spPr bwMode="auto">
          <a:xfrm>
            <a:off x="347472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lang="en-US" sz="1100"/>
          </a:p>
        </p:txBody>
      </p:sp>
      <p:sp>
        <p:nvSpPr>
          <p:cNvPr id="944071493" name="Text 41"/>
          <p:cNvSpPr/>
          <p:nvPr/>
        </p:nvSpPr>
        <p:spPr bwMode="auto">
          <a:xfrm>
            <a:off x="822960" y="39044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Main.java</a:t>
            </a:r>
            <a:endParaRPr lang="en-US" sz="1000"/>
          </a:p>
        </p:txBody>
      </p:sp>
      <p:sp>
        <p:nvSpPr>
          <p:cNvPr id="832803792" name="Text 42"/>
          <p:cNvSpPr/>
          <p:nvPr/>
        </p:nvSpPr>
        <p:spPr bwMode="auto">
          <a:xfrm>
            <a:off x="2651760" y="390448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Arial"/>
                <a:ea typeface="Arial"/>
                <a:cs typeface="Arial"/>
              </a:rPr>
              <a:t>break + case "Operario" em falta → fluxo caía para código errado</a:t>
            </a:r>
            <a:endParaRPr lang="en-US" sz="1000"/>
          </a:p>
        </p:txBody>
      </p:sp>
      <p:sp>
        <p:nvSpPr>
          <p:cNvPr id="78683314" name="Shape 43"/>
          <p:cNvSpPr/>
          <p:nvPr/>
        </p:nvSpPr>
        <p:spPr bwMode="auto">
          <a:xfrm>
            <a:off x="6537960" y="3904488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349146865" name="Text 44"/>
          <p:cNvSpPr/>
          <p:nvPr/>
        </p:nvSpPr>
        <p:spPr bwMode="auto">
          <a:xfrm>
            <a:off x="6583680" y="392277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65F46"/>
                </a:solidFill>
                <a:latin typeface="Arial"/>
                <a:ea typeface="Arial"/>
                <a:cs typeface="Arial"/>
              </a:rPr>
              <a:t>Adicionado break; e case correcto</a:t>
            </a:r>
            <a:endParaRPr lang="en-US" sz="900"/>
          </a:p>
        </p:txBody>
      </p:sp>
      <p:sp>
        <p:nvSpPr>
          <p:cNvPr id="2009995135" name="Shape 45"/>
          <p:cNvSpPr/>
          <p:nvPr/>
        </p:nvSpPr>
        <p:spPr bwMode="auto">
          <a:xfrm>
            <a:off x="256032" y="4407408"/>
            <a:ext cx="8631936" cy="502920"/>
          </a:xfrm>
          <a:prstGeom prst="roundRect">
            <a:avLst>
              <a:gd name="adj" fmla="val 18182"/>
            </a:avLst>
          </a:prstGeom>
          <a:solidFill>
            <a:srgbClr val="F0F7FF"/>
          </a:solidFill>
          <a:ln w="6350">
            <a:solidFill>
              <a:srgbClr val="E2EAF4"/>
            </a:solidFill>
            <a:prstDash val="solid"/>
          </a:ln>
          <a:effectLst>
            <a:outerShdw blurRad="63500" dist="25400" dir="2700000" sx="100000" sy="100000" kx="0" ky="0" algn="bl" rotWithShape="0">
              <a:srgbClr val="000000">
                <a:alpha val="13000"/>
              </a:srgbClr>
            </a:outerShdw>
          </a:effectLst>
        </p:spPr>
      </p:sp>
      <p:sp>
        <p:nvSpPr>
          <p:cNvPr id="1761102740" name="Shape 46"/>
          <p:cNvSpPr/>
          <p:nvPr/>
        </p:nvSpPr>
        <p:spPr bwMode="auto">
          <a:xfrm>
            <a:off x="347472" y="4471416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38391963" name="Text 47"/>
          <p:cNvSpPr/>
          <p:nvPr/>
        </p:nvSpPr>
        <p:spPr bwMode="auto">
          <a:xfrm>
            <a:off x="347472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lang="en-US" sz="1100"/>
          </a:p>
        </p:txBody>
      </p:sp>
      <p:sp>
        <p:nvSpPr>
          <p:cNvPr id="83623901" name="Text 48"/>
          <p:cNvSpPr/>
          <p:nvPr/>
        </p:nvSpPr>
        <p:spPr bwMode="auto">
          <a:xfrm>
            <a:off x="822960" y="447141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B3A5C"/>
                </a:solidFill>
                <a:latin typeface="Courier New"/>
                <a:ea typeface="Courier New"/>
                <a:cs typeface="Courier New"/>
              </a:rPr>
              <a:t>Main.java</a:t>
            </a:r>
            <a:endParaRPr lang="en-US" sz="1000"/>
          </a:p>
        </p:txBody>
      </p:sp>
      <p:sp>
        <p:nvSpPr>
          <p:cNvPr id="891537691" name="Text 49"/>
          <p:cNvSpPr/>
          <p:nvPr/>
        </p:nvSpPr>
        <p:spPr bwMode="auto">
          <a:xfrm>
            <a:off x="2651760" y="447141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Arial"/>
                <a:ea typeface="Arial"/>
                <a:cs typeface="Arial"/>
              </a:rPr>
              <a:t>case 8 sem break → fall-through encerrava sessão</a:t>
            </a:r>
            <a:endParaRPr lang="en-US" sz="1000"/>
          </a:p>
        </p:txBody>
      </p:sp>
      <p:sp>
        <p:nvSpPr>
          <p:cNvPr id="1460089121" name="Shape 50"/>
          <p:cNvSpPr/>
          <p:nvPr/>
        </p:nvSpPr>
        <p:spPr bwMode="auto">
          <a:xfrm>
            <a:off x="6537960" y="4471416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093495582" name="Text 51"/>
          <p:cNvSpPr/>
          <p:nvPr/>
        </p:nvSpPr>
        <p:spPr bwMode="auto">
          <a:xfrm>
            <a:off x="6583680" y="448970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65F46"/>
                </a:solidFill>
                <a:latin typeface="Arial"/>
                <a:ea typeface="Arial"/>
                <a:cs typeface="Arial"/>
              </a:rPr>
              <a:t>Adicionado break; após do-while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34342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5014059" name="Shape 1"/>
          <p:cNvSpPr/>
          <p:nvPr/>
        </p:nvSpPr>
        <p:spPr bwMode="auto">
          <a:xfrm>
            <a:off x="6583680" y="2286000"/>
            <a:ext cx="3657600" cy="3657600"/>
          </a:xfrm>
          <a:prstGeom prst="ellipse">
            <a:avLst/>
          </a:prstGeom>
          <a:solidFill>
            <a:srgbClr val="00A8CC">
              <a:alpha val="10000"/>
            </a:srgbClr>
          </a:solidFill>
          <a:ln w="12700">
            <a:solidFill>
              <a:srgbClr val="00A8CC">
                <a:alpha val="15000"/>
              </a:srgbClr>
            </a:solidFill>
            <a:prstDash val="solid"/>
          </a:ln>
        </p:spPr>
      </p:sp>
      <p:sp>
        <p:nvSpPr>
          <p:cNvPr id="1116616900" name="Text 2"/>
          <p:cNvSpPr/>
          <p:nvPr/>
        </p:nvSpPr>
        <p:spPr bwMode="auto"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Conclusão</a:t>
            </a:r>
            <a:endParaRPr lang="en-US" sz="3000"/>
          </a:p>
        </p:txBody>
      </p:sp>
      <p:sp>
        <p:nvSpPr>
          <p:cNvPr id="1013341160" name="Shape 3"/>
          <p:cNvSpPr/>
          <p:nvPr/>
        </p:nvSpPr>
        <p:spPr bwMode="auto">
          <a:xfrm>
            <a:off x="365760" y="1280160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A8CC">
                <a:alpha val="40000"/>
              </a:srgbClr>
            </a:solidFill>
            <a:prstDash val="solid"/>
          </a:ln>
        </p:spPr>
      </p:sp>
      <p:sp>
        <p:nvSpPr>
          <p:cNvPr id="12277804" name="Shape 4"/>
          <p:cNvSpPr/>
          <p:nvPr/>
        </p:nvSpPr>
        <p:spPr bwMode="auto">
          <a:xfrm>
            <a:off x="484632" y="1389888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75089670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2064" y="1417320"/>
            <a:ext cx="475488" cy="475488"/>
          </a:xfrm>
          <a:prstGeom prst="rect">
            <a:avLst/>
          </a:prstGeom>
        </p:spPr>
      </p:pic>
      <p:sp>
        <p:nvSpPr>
          <p:cNvPr id="1261840918" name="Text 5"/>
          <p:cNvSpPr/>
          <p:nvPr/>
        </p:nvSpPr>
        <p:spPr bwMode="auto">
          <a:xfrm>
            <a:off x="1170432" y="135331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funcional e estável</a:t>
            </a:r>
            <a:endParaRPr lang="en-US" sz="1400"/>
          </a:p>
        </p:txBody>
      </p:sp>
      <p:sp>
        <p:nvSpPr>
          <p:cNvPr id="340352882" name="Text 6"/>
          <p:cNvSpPr/>
          <p:nvPr/>
        </p:nvSpPr>
        <p:spPr bwMode="auto">
          <a:xfrm>
            <a:off x="1170432" y="168249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Todos os requisitos </a:t>
            </a:r>
            <a:r>
              <a:rPr lang="pt-BR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abordados durante as aulas  </a:t>
            </a: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implementados</a:t>
            </a:r>
            <a:r>
              <a:rPr lang="pt-BR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 e mais pesquisas por nossa parte</a:t>
            </a:r>
            <a:endParaRPr lang="en-US" sz="1100"/>
          </a:p>
        </p:txBody>
      </p:sp>
      <p:sp>
        <p:nvSpPr>
          <p:cNvPr id="1597827915" name="Shape 7"/>
          <p:cNvSpPr/>
          <p:nvPr/>
        </p:nvSpPr>
        <p:spPr bwMode="auto">
          <a:xfrm>
            <a:off x="365760" y="2212848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A8CC">
                <a:alpha val="40000"/>
              </a:srgbClr>
            </a:solidFill>
            <a:prstDash val="solid"/>
          </a:ln>
        </p:spPr>
      </p:sp>
      <p:sp>
        <p:nvSpPr>
          <p:cNvPr id="160810482" name="Shape 8"/>
          <p:cNvSpPr/>
          <p:nvPr/>
        </p:nvSpPr>
        <p:spPr bwMode="auto">
          <a:xfrm>
            <a:off x="484632" y="2322576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7694644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2064" y="2350008"/>
            <a:ext cx="475488" cy="475488"/>
          </a:xfrm>
          <a:prstGeom prst="rect">
            <a:avLst/>
          </a:prstGeom>
        </p:spPr>
      </p:pic>
      <p:sp>
        <p:nvSpPr>
          <p:cNvPr id="934817198" name="Text 9"/>
          <p:cNvSpPr/>
          <p:nvPr/>
        </p:nvSpPr>
        <p:spPr bwMode="auto">
          <a:xfrm>
            <a:off x="1170432" y="2286000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conceitos POO aplicados</a:t>
            </a:r>
            <a:endParaRPr lang="en-US" sz="1400"/>
          </a:p>
        </p:txBody>
      </p:sp>
      <p:sp>
        <p:nvSpPr>
          <p:cNvPr id="53682356" name="Text 10"/>
          <p:cNvSpPr/>
          <p:nvPr/>
        </p:nvSpPr>
        <p:spPr bwMode="auto">
          <a:xfrm>
            <a:off x="1170432" y="261518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Selecção, repetição, ArrayList, classes, Strings, métodos, ficheiros</a:t>
            </a:r>
            <a:endParaRPr lang="en-US" sz="1100"/>
          </a:p>
        </p:txBody>
      </p:sp>
      <p:sp>
        <p:nvSpPr>
          <p:cNvPr id="1132399128" name="Shape 11"/>
          <p:cNvSpPr/>
          <p:nvPr/>
        </p:nvSpPr>
        <p:spPr bwMode="auto">
          <a:xfrm>
            <a:off x="365760" y="3145536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A8CC">
                <a:alpha val="40000"/>
              </a:srgbClr>
            </a:solidFill>
            <a:prstDash val="solid"/>
          </a:ln>
        </p:spPr>
      </p:sp>
      <p:sp>
        <p:nvSpPr>
          <p:cNvPr id="372262292" name="Shape 12"/>
          <p:cNvSpPr/>
          <p:nvPr/>
        </p:nvSpPr>
        <p:spPr bwMode="auto">
          <a:xfrm>
            <a:off x="484632" y="3255264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62880924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12064" y="3282696"/>
            <a:ext cx="475488" cy="475488"/>
          </a:xfrm>
          <a:prstGeom prst="rect">
            <a:avLst/>
          </a:prstGeom>
        </p:spPr>
      </p:pic>
      <p:sp>
        <p:nvSpPr>
          <p:cNvPr id="1893903618" name="Text 13"/>
          <p:cNvSpPr/>
          <p:nvPr/>
        </p:nvSpPr>
        <p:spPr bwMode="auto">
          <a:xfrm>
            <a:off x="1170432" y="321868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bugs identificados e corrigidos</a:t>
            </a:r>
            <a:endParaRPr lang="en-US" sz="1400"/>
          </a:p>
        </p:txBody>
      </p:sp>
      <p:sp>
        <p:nvSpPr>
          <p:cNvPr id="1847833002" name="Text 14"/>
          <p:cNvSpPr/>
          <p:nvPr/>
        </p:nvSpPr>
        <p:spPr bwMode="auto">
          <a:xfrm>
            <a:off x="1170432" y="354787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Código revisto e validado ficheiro a ficheiro</a:t>
            </a:r>
            <a:endParaRPr lang="en-US" sz="1100"/>
          </a:p>
        </p:txBody>
      </p:sp>
      <p:sp>
        <p:nvSpPr>
          <p:cNvPr id="1401466746" name="Shape 15"/>
          <p:cNvSpPr/>
          <p:nvPr/>
        </p:nvSpPr>
        <p:spPr bwMode="auto">
          <a:xfrm>
            <a:off x="365760" y="4078224"/>
            <a:ext cx="685800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A8CC">
                <a:alpha val="40000"/>
              </a:srgbClr>
            </a:solidFill>
            <a:prstDash val="solid"/>
          </a:ln>
        </p:spPr>
      </p:sp>
      <p:sp>
        <p:nvSpPr>
          <p:cNvPr id="220729416" name="Shape 16"/>
          <p:cNvSpPr/>
          <p:nvPr/>
        </p:nvSpPr>
        <p:spPr bwMode="auto">
          <a:xfrm>
            <a:off x="484632" y="4187952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11882043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12064" y="4215384"/>
            <a:ext cx="475488" cy="475488"/>
          </a:xfrm>
          <a:prstGeom prst="rect">
            <a:avLst/>
          </a:prstGeom>
        </p:spPr>
      </p:pic>
      <p:sp>
        <p:nvSpPr>
          <p:cNvPr id="236554998" name="Text 17"/>
          <p:cNvSpPr/>
          <p:nvPr/>
        </p:nvSpPr>
        <p:spPr bwMode="auto">
          <a:xfrm>
            <a:off x="1170432" y="4151376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Persistência completa</a:t>
            </a:r>
            <a:endParaRPr lang="en-US" sz="1400"/>
          </a:p>
        </p:txBody>
      </p:sp>
      <p:sp>
        <p:nvSpPr>
          <p:cNvPr id="1579183912" name="Text 18"/>
          <p:cNvSpPr/>
          <p:nvPr/>
        </p:nvSpPr>
        <p:spPr bwMode="auto">
          <a:xfrm>
            <a:off x="1170432" y="4480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4A3B8"/>
                </a:solidFill>
                <a:latin typeface="Arial"/>
                <a:ea typeface="Arial"/>
                <a:cs typeface="Arial"/>
              </a:rPr>
              <a:t>Dados guardados automaticamente em 4 ficheiros .txt</a:t>
            </a:r>
            <a:endParaRPr lang="en-US" sz="1100"/>
          </a:p>
        </p:txBody>
      </p:sp>
      <p:sp>
        <p:nvSpPr>
          <p:cNvPr id="1304900305" name="Text 19"/>
          <p:cNvSpPr/>
          <p:nvPr/>
        </p:nvSpPr>
        <p:spPr bwMode="auto"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Obrigado pela atenção — Frota Simba Wambau  ·  2025/2026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de Frotas — Defesa</dc:title>
  <dc:subject>PptxGenJS Presentation</dc:subject>
  <dc:creator>Frota Simba Wambau</dc:creator>
  <cp:lastModifiedBy/>
  <cp:revision>2</cp:revision>
  <dcterms:created xsi:type="dcterms:W3CDTF">2026-06-27T11:22:22Z</dcterms:created>
  <dcterms:modified xsi:type="dcterms:W3CDTF">2026-06-29T21:23:27Z</dcterms:modified>
</cp:coreProperties>
</file>